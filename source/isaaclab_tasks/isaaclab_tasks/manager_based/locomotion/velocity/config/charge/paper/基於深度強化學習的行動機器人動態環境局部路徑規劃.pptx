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29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71700" y="435769"/>
            <a:ext cx="480060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基於深度強化學習的行動機器人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0" y="778669"/>
            <a:ext cx="342900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動態環境局部路徑規劃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786063" y="1371600"/>
            <a:ext cx="3571875" cy="21431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9" y="2085975"/>
            <a:ext cx="535781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00450" y="2636044"/>
            <a:ext cx="1943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機器人在動態環境中的路徑規劃示意圖 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2524088" y="3857625"/>
            <a:ext cx="40957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結合 SAC + DWA + Tile Coding + Non-sparse Reward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043210" y="4314825"/>
            <a:ext cx="3057581" cy="6286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6"/>
          <p:cNvSpPr/>
          <p:nvPr/>
        </p:nvSpPr>
        <p:spPr>
          <a:xfrm>
            <a:off x="3157510" y="444162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簡單來說：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800475" y="4441627"/>
            <a:ext cx="21860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讓機器人在充滿移動障礙物的環境中，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3157510" y="4641652"/>
            <a:ext cx="28289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能夠自動學習如何更聰明、更平穩地找到最佳路徑 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4071631" y="5172075"/>
            <a:ext cx="10007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2024年8月12日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背景與動機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機器人在動態環境中的挑戰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4350" y="1098352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53" y="1098352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即時反應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285931" y="1098352"/>
            <a:ext cx="2443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（像人類開車一樣，能隨時應對突發狀況）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14350" y="1298377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需要平衡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028728" y="1298377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避障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285931" y="1298377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414546" y="1298377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平穩移動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28924" y="1298377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057540" y="1298377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路徑長度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571917" y="1298377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三個目標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14350" y="1485900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環境中的物體不斷移動，增加了決策難度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42900" y="1800225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傳統方法的限制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42900" y="2085975"/>
            <a:ext cx="5006318" cy="2571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342900" y="2085975"/>
            <a:ext cx="21431" cy="2571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414338" y="2135981"/>
            <a:ext cx="2640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678377" y="2135981"/>
            <a:ext cx="38109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：動態窗口法 - 像是機器人的「視野範圍」，但參數固定，缺乏自我調整能力 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342900" y="2371725"/>
            <a:ext cx="5006318" cy="2571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342900" y="2371725"/>
            <a:ext cx="21431" cy="2571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414338" y="2421731"/>
            <a:ext cx="2089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APF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623292" y="2421731"/>
            <a:ext cx="4096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：人工勢場法 - 把目標想成「磁鐵」，障礙物想成「同極」，但容易卡在局部最佳點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342900" y="27432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深度強化學習的潛力與挑戰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342900" y="3028950"/>
            <a:ext cx="5006318" cy="3714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4"/>
          <p:cNvSpPr/>
          <p:nvPr/>
        </p:nvSpPr>
        <p:spPr>
          <a:xfrm>
            <a:off x="428625" y="3127177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深度強化學習：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1328765" y="3127177"/>
            <a:ext cx="37167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讓機器人通過「嘗試-錯誤-獎勵」的方式，自己學會最佳行動方式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514350" y="3470077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潛力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771553" y="3470077"/>
            <a:ext cx="23146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：能自我調整、自我學習、處理複雜情況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514350" y="3670102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挑戰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771553" y="3670102"/>
            <a:ext cx="3664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：稀疏獎勵問題（很少得到反饋）、高維狀態難學習、樣本效率低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5520668" y="871538"/>
            <a:ext cx="3280432" cy="25717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84" y="1014413"/>
            <a:ext cx="2286000" cy="22860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20668" y="3500438"/>
            <a:ext cx="3280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動態環境中的路徑規劃挑戰：機器人需要在移動障礙物中找到安全且高效的路徑</a:t>
            </a:r>
            <a:endParaRPr lang="en-US" sz="732" dirty="0"/>
          </a:p>
        </p:txBody>
      </p:sp>
      <p:sp>
        <p:nvSpPr>
          <p:cNvPr id="36" name="Text 32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為什麼選擇讀這篇論文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論文的創新整合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085850"/>
            <a:ext cx="5006318" cy="6000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085850"/>
            <a:ext cx="21431" cy="6000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414338" y="1135856"/>
            <a:ext cx="13325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SAC（軟演員-評論家算法）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746870" y="1135856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14338" y="1300163"/>
            <a:ext cx="48634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一種「自我調整探索程度」的學習方法，就像學生知道何時該多嘗試新方法，何時該專注用已知方法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342900" y="1714500"/>
            <a:ext cx="5006318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" y="1714500"/>
            <a:ext cx="21431" cy="42862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14338" y="1764506"/>
            <a:ext cx="10069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DWA（動態窗口法）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1421327" y="1764506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14338" y="1928813"/>
            <a:ext cx="4863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提供「安全保障」的傳統方法，確保機器人不會撞到障礙物，就像汽車的防撞系統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342900" y="2171700"/>
            <a:ext cx="5006318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342900" y="2171700"/>
            <a:ext cx="21431" cy="42862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414338" y="2221706"/>
            <a:ext cx="12475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Tile Coding（瓦片編碼）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1661926" y="2221706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414338" y="2386013"/>
            <a:ext cx="4863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改善機器人「理解環境」的能力，就像把模糊的地圖變得更清晰，幫助更準確判斷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342900" y="2628900"/>
            <a:ext cx="5006318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342900" y="2628900"/>
            <a:ext cx="21431" cy="42862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38" y="2678906"/>
            <a:ext cx="18305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Non-sparse Reward（非稀疏獎勵）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2244868" y="2678906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414338" y="2843213"/>
            <a:ext cx="4863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提供「持續反饋」而非只有成功/失敗的信息，就像學習過程中不斷得到「冷熱提示」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342900" y="3171825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完整的方法論設計與驗證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14350" y="3470077"/>
            <a:ext cx="16716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針對動態環境的局部規劃進行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186015" y="347007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系統性設計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514350" y="3670102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提出新的路徑評估指標：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1928840" y="3670102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平均路徑偏差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2700393" y="3670102"/>
            <a:ext cx="20574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（測量路徑與理想直線的偏離程度）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514350" y="3870127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42965" y="3870127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四種不同動態環境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1671693" y="3870127"/>
            <a:ext cx="20574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中進行全面測試，證明方法的適應性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6560809" y="875109"/>
            <a:ext cx="1200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與現有方法比較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5524240" y="1221581"/>
            <a:ext cx="1071116" cy="292894"/>
          </a:xfrm>
          <a:prstGeom prst="rect">
            <a:avLst/>
          </a:prstGeom>
          <a:solidFill>
            <a:srgbClr val="F1F5F9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24240" y="1221581"/>
            <a:ext cx="1071116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特性</a:t>
            </a:r>
            <a:endParaRPr lang="en-US" sz="837" dirty="0"/>
          </a:p>
        </p:txBody>
      </p:sp>
      <p:sp>
        <p:nvSpPr>
          <p:cNvPr id="37" name="Shape 34"/>
          <p:cNvSpPr/>
          <p:nvPr/>
        </p:nvSpPr>
        <p:spPr>
          <a:xfrm>
            <a:off x="6595356" y="1221581"/>
            <a:ext cx="582188" cy="292894"/>
          </a:xfrm>
          <a:prstGeom prst="rect">
            <a:avLst/>
          </a:prstGeom>
          <a:solidFill>
            <a:srgbClr val="F1F5F9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95356" y="1221581"/>
            <a:ext cx="58218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</a:t>
            </a:r>
            <a:endParaRPr lang="en-US" sz="837" dirty="0"/>
          </a:p>
        </p:txBody>
      </p:sp>
      <p:sp>
        <p:nvSpPr>
          <p:cNvPr id="39" name="Shape 36"/>
          <p:cNvSpPr/>
          <p:nvPr/>
        </p:nvSpPr>
        <p:spPr>
          <a:xfrm>
            <a:off x="7175367" y="1221581"/>
            <a:ext cx="783971" cy="292894"/>
          </a:xfrm>
          <a:prstGeom prst="rect">
            <a:avLst/>
          </a:prstGeom>
          <a:solidFill>
            <a:srgbClr val="F1F5F9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75367" y="1221581"/>
            <a:ext cx="78397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傳統DRL</a:t>
            </a:r>
            <a:endParaRPr lang="en-US" sz="837" dirty="0"/>
          </a:p>
        </p:txBody>
      </p:sp>
      <p:sp>
        <p:nvSpPr>
          <p:cNvPr id="41" name="Shape 38"/>
          <p:cNvSpPr/>
          <p:nvPr/>
        </p:nvSpPr>
        <p:spPr>
          <a:xfrm>
            <a:off x="7957049" y="1221581"/>
            <a:ext cx="840479" cy="292894"/>
          </a:xfrm>
          <a:prstGeom prst="rect">
            <a:avLst/>
          </a:prstGeom>
          <a:solidFill>
            <a:srgbClr val="F1F5F9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7049" y="1221581"/>
            <a:ext cx="840479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傳統DWA</a:t>
            </a:r>
            <a:endParaRPr lang="en-US" sz="837" dirty="0"/>
          </a:p>
        </p:txBody>
      </p:sp>
      <p:sp>
        <p:nvSpPr>
          <p:cNvPr id="43" name="Text 40"/>
          <p:cNvSpPr/>
          <p:nvPr/>
        </p:nvSpPr>
        <p:spPr>
          <a:xfrm>
            <a:off x="5524240" y="1510903"/>
            <a:ext cx="107987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自動調整參數</a:t>
            </a:r>
            <a:endParaRPr lang="en-US" sz="837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983" y="1600200"/>
            <a:ext cx="114300" cy="114300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600" y="1600200"/>
            <a:ext cx="71438" cy="114300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291" y="1600200"/>
            <a:ext cx="71438" cy="1143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524240" y="1803797"/>
            <a:ext cx="107987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安全性保障</a:t>
            </a:r>
            <a:endParaRPr lang="en-US" sz="837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83" y="1893094"/>
            <a:ext cx="114300" cy="114300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600" y="1893094"/>
            <a:ext cx="71438" cy="114300"/>
          </a:xfrm>
          <a:prstGeom prst="rect">
            <a:avLst/>
          </a:prstGeom>
        </p:spPr>
      </p:pic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2859" y="1893094"/>
            <a:ext cx="114300" cy="1143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524240" y="2096691"/>
            <a:ext cx="107987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改善環境理解</a:t>
            </a:r>
            <a:endParaRPr lang="en-US" sz="837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983" y="2185988"/>
            <a:ext cx="114300" cy="114300"/>
          </a:xfrm>
          <a:prstGeom prst="rect">
            <a:avLst/>
          </a:prstGeom>
        </p:spPr>
      </p:pic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6600" y="2185988"/>
            <a:ext cx="71438" cy="114300"/>
          </a:xfrm>
          <a:prstGeom prst="rect">
            <a:avLst/>
          </a:prstGeom>
        </p:spPr>
      </p:pic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4291" y="2185988"/>
            <a:ext cx="71438" cy="11430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524240" y="2389584"/>
            <a:ext cx="107987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持續學習反饋</a:t>
            </a:r>
            <a:endParaRPr lang="en-US" sz="837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983" y="2478881"/>
            <a:ext cx="114300" cy="114300"/>
          </a:xfrm>
          <a:prstGeom prst="rect">
            <a:avLst/>
          </a:prstGeom>
        </p:spPr>
      </p:pic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6600" y="2478881"/>
            <a:ext cx="71438" cy="11430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7962519" y="2389584"/>
            <a:ext cx="835009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不適用</a:t>
            </a:r>
            <a:endParaRPr lang="en-US" sz="837" dirty="0"/>
          </a:p>
        </p:txBody>
      </p:sp>
      <p:sp>
        <p:nvSpPr>
          <p:cNvPr id="59" name="Text 45"/>
          <p:cNvSpPr/>
          <p:nvPr/>
        </p:nvSpPr>
        <p:spPr>
          <a:xfrm>
            <a:off x="5524240" y="2682478"/>
            <a:ext cx="1079878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動態環境適應</a:t>
            </a:r>
            <a:endParaRPr lang="en-US" sz="837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5983" y="2771775"/>
            <a:ext cx="114300" cy="114300"/>
          </a:xfrm>
          <a:prstGeom prst="rect">
            <a:avLst/>
          </a:prstGeom>
        </p:spPr>
      </p:pic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15169" y="2771775"/>
            <a:ext cx="114300" cy="114300"/>
          </a:xfrm>
          <a:prstGeom prst="rect">
            <a:avLst/>
          </a:prstGeom>
        </p:spPr>
      </p:pic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4291" y="2771775"/>
            <a:ext cx="71438" cy="114300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5520668" y="3150394"/>
            <a:ext cx="3280432" cy="8286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4" name="Text 47"/>
          <p:cNvSpPr/>
          <p:nvPr/>
        </p:nvSpPr>
        <p:spPr>
          <a:xfrm>
            <a:off x="6839387" y="3277195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簡單來說：</a:t>
            </a:r>
            <a:endParaRPr lang="en-US" sz="942" dirty="0"/>
          </a:p>
        </p:txBody>
      </p:sp>
      <p:sp>
        <p:nvSpPr>
          <p:cNvPr id="65" name="Text 48"/>
          <p:cNvSpPr/>
          <p:nvPr/>
        </p:nvSpPr>
        <p:spPr>
          <a:xfrm>
            <a:off x="5747789" y="3477220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這篇論文結合了</a:t>
            </a:r>
            <a:endParaRPr lang="en-US" sz="942" dirty="0"/>
          </a:p>
        </p:txBody>
      </p:sp>
      <p:sp>
        <p:nvSpPr>
          <p:cNvPr id="66" name="Text 49"/>
          <p:cNvSpPr/>
          <p:nvPr/>
        </p:nvSpPr>
        <p:spPr>
          <a:xfrm>
            <a:off x="6647929" y="3477220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傳統方法的安全性</a:t>
            </a:r>
            <a:endParaRPr lang="en-US" sz="942" dirty="0"/>
          </a:p>
        </p:txBody>
      </p:sp>
      <p:sp>
        <p:nvSpPr>
          <p:cNvPr id="67" name="Text 50"/>
          <p:cNvSpPr/>
          <p:nvPr/>
        </p:nvSpPr>
        <p:spPr>
          <a:xfrm>
            <a:off x="7676657" y="3477220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endParaRPr lang="en-US" sz="942" dirty="0"/>
          </a:p>
        </p:txBody>
      </p:sp>
      <p:sp>
        <p:nvSpPr>
          <p:cNvPr id="68" name="Text 51"/>
          <p:cNvSpPr/>
          <p:nvPr/>
        </p:nvSpPr>
        <p:spPr>
          <a:xfrm>
            <a:off x="7805272" y="3477220"/>
            <a:ext cx="7687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AI的自適應能</a:t>
            </a:r>
            <a:endParaRPr lang="en-US" sz="942" dirty="0"/>
          </a:p>
        </p:txBody>
      </p:sp>
      <p:sp>
        <p:nvSpPr>
          <p:cNvPr id="69" name="Text 52"/>
          <p:cNvSpPr/>
          <p:nvPr/>
        </p:nvSpPr>
        <p:spPr>
          <a:xfrm>
            <a:off x="5858266" y="3677245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力</a:t>
            </a:r>
            <a:endParaRPr lang="en-US" sz="942" dirty="0"/>
          </a:p>
        </p:txBody>
      </p:sp>
      <p:sp>
        <p:nvSpPr>
          <p:cNvPr id="70" name="Text 53"/>
          <p:cNvSpPr/>
          <p:nvPr/>
        </p:nvSpPr>
        <p:spPr>
          <a:xfrm>
            <a:off x="5986881" y="3677245"/>
            <a:ext cx="24766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 讓機器人在複雜環境中更聰明地規劃路徑 </a:t>
            </a:r>
            <a:endParaRPr lang="en-US" sz="942" dirty="0"/>
          </a:p>
        </p:txBody>
      </p:sp>
      <p:sp>
        <p:nvSpPr>
          <p:cNvPr id="71" name="Text 54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核心改進與設計理念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為什麼結合傳統方法與深度強化學習？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143000"/>
            <a:ext cx="5006318" cy="742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143000"/>
            <a:ext cx="28575" cy="7429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200150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DWA：提供安全保障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428625" y="1441252"/>
            <a:ext cx="757265" cy="17502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441252"/>
            <a:ext cx="757265" cy="175022"/>
          </a:xfrm>
          <a:prstGeom prst="rect">
            <a:avLst/>
          </a:prstGeom>
          <a:noFill/>
          <a:ln/>
        </p:spPr>
        <p:txBody>
          <a:bodyPr wrap="none" lIns="68072" tIns="0" rIns="68072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白話解釋：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185890" y="1441252"/>
            <a:ext cx="39553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就像開車時的「視野範圍」，確保機器人不會撞到障礙物，提供物理上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1641277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可行的移動方式 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342900" y="1985963"/>
            <a:ext cx="5006318" cy="742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" y="1985963"/>
            <a:ext cx="28575" cy="7429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043113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RL：自動調整參數</a:t>
            </a:r>
            <a:endParaRPr lang="en-US" sz="1046" dirty="0"/>
          </a:p>
        </p:txBody>
      </p:sp>
      <p:sp>
        <p:nvSpPr>
          <p:cNvPr id="15" name="Shape 12"/>
          <p:cNvSpPr/>
          <p:nvPr/>
        </p:nvSpPr>
        <p:spPr>
          <a:xfrm>
            <a:off x="428625" y="2284214"/>
            <a:ext cx="757265" cy="17502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2284214"/>
            <a:ext cx="757265" cy="175022"/>
          </a:xfrm>
          <a:prstGeom prst="rect">
            <a:avLst/>
          </a:prstGeom>
          <a:noFill/>
          <a:ln/>
        </p:spPr>
        <p:txBody>
          <a:bodyPr wrap="none" lIns="68072" tIns="0" rIns="68072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白話解釋：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1185890" y="2284214"/>
            <a:ext cx="39230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讓機器人自己學習如何調整DWA的重要參數，就像人類會根據不同路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28625" y="2284214"/>
            <a:ext cx="480897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況調整駕駛方式 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342900" y="2828925"/>
            <a:ext cx="5006318" cy="742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342900" y="2828925"/>
            <a:ext cx="28575" cy="7429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2886075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Tile Coding：增強特徵表示</a:t>
            </a:r>
            <a:endParaRPr lang="en-US" sz="1046" dirty="0"/>
          </a:p>
        </p:txBody>
      </p:sp>
      <p:sp>
        <p:nvSpPr>
          <p:cNvPr id="22" name="Shape 19"/>
          <p:cNvSpPr/>
          <p:nvPr/>
        </p:nvSpPr>
        <p:spPr>
          <a:xfrm>
            <a:off x="428625" y="3127177"/>
            <a:ext cx="757265" cy="17502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3127177"/>
            <a:ext cx="757265" cy="175022"/>
          </a:xfrm>
          <a:prstGeom prst="rect">
            <a:avLst/>
          </a:prstGeom>
          <a:noFill/>
          <a:ln/>
        </p:spPr>
        <p:txBody>
          <a:bodyPr wrap="none" lIns="68072" tIns="0" rIns="68072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白話解釋：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1185890" y="3127177"/>
            <a:ext cx="40196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幫助機器人更好地「理解」環境狀態，就像把模糊的地圖變成清晰的網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28625" y="3327202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格，減少混淆 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342900" y="3671888"/>
            <a:ext cx="5006318" cy="742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342900" y="3671888"/>
            <a:ext cx="28575" cy="7429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428625" y="3729038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非稀疏獎勵：提供持續反饋</a:t>
            </a:r>
            <a:endParaRPr lang="en-US" sz="1046" dirty="0"/>
          </a:p>
        </p:txBody>
      </p:sp>
      <p:sp>
        <p:nvSpPr>
          <p:cNvPr id="29" name="Shape 26"/>
          <p:cNvSpPr/>
          <p:nvPr/>
        </p:nvSpPr>
        <p:spPr>
          <a:xfrm>
            <a:off x="428625" y="3970139"/>
            <a:ext cx="757265" cy="17502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3970139"/>
            <a:ext cx="757265" cy="175022"/>
          </a:xfrm>
          <a:prstGeom prst="rect">
            <a:avLst/>
          </a:prstGeom>
          <a:noFill/>
          <a:ln/>
        </p:spPr>
        <p:txBody>
          <a:bodyPr wrap="none" lIns="68072" tIns="0" rIns="68072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白話解釋：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1185890" y="3970139"/>
            <a:ext cx="40196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不只在終點給獎勵，而是全程給予反饋，就像學習時不只看期末考，還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428625" y="4170164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有平時小測驗 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5520668" y="1128713"/>
            <a:ext cx="3280432" cy="285750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09" y="1271588"/>
            <a:ext cx="2571750" cy="257175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200942" y="4043363"/>
            <a:ext cx="19198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ASAC方法的四大核心技術組件如何協同工作</a:t>
            </a:r>
            <a:endParaRPr lang="en-US" sz="732" dirty="0"/>
          </a:p>
        </p:txBody>
      </p:sp>
      <p:sp>
        <p:nvSpPr>
          <p:cNvPr id="36" name="Text 32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4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系統架構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32804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ASAC系統組件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085850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085850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414338" y="113585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狀態輸入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871538" y="1135856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：機器人的位置、速度和周圍障礙物的信息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14338" y="1300163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（就像人開車時看到的路況）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342900" y="1514475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" y="1514475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14338" y="1564481"/>
            <a:ext cx="5293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Actor網絡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943673" y="1564481"/>
            <a:ext cx="1971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：決策大腦，輸出DWA的三個權重參數 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14338" y="1728788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（相當於決定「轉向重要性」、「避障重要性」和「速度重要性」）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342900" y="1943100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342900" y="1943100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414338" y="1993106"/>
            <a:ext cx="492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DWA算法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906977" y="1993106"/>
            <a:ext cx="1485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：根據權重選擇最佳速度組合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414338" y="2157413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（像是根據路況決定該轉彎還是直行）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342900" y="2371725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342900" y="2371725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38" y="242173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環境互動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871538" y="2421731"/>
            <a:ext cx="1600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：執行動作並獲取新狀態與獎勵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414338" y="2586038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（實際行駛並觀察結果）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342900" y="2800350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342900" y="2800350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414338" y="285035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經驗回放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871538" y="2850356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：存儲過去的經驗樣本 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14338" y="3014663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（記住過去的駕駛經驗）</a:t>
            </a:r>
            <a:endParaRPr lang="en-US" sz="732" dirty="0"/>
          </a:p>
        </p:txBody>
      </p:sp>
      <p:sp>
        <p:nvSpPr>
          <p:cNvPr id="30" name="Shape 27"/>
          <p:cNvSpPr/>
          <p:nvPr/>
        </p:nvSpPr>
        <p:spPr>
          <a:xfrm>
            <a:off x="342900" y="3228975"/>
            <a:ext cx="3280404" cy="4000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8"/>
          <p:cNvSpPr/>
          <p:nvPr/>
        </p:nvSpPr>
        <p:spPr>
          <a:xfrm>
            <a:off x="342900" y="3228975"/>
            <a:ext cx="21431" cy="400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414338" y="3278981"/>
            <a:ext cx="5206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Critic網絡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934994" y="3278981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：評估動作的好壞，幫助改進策略 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414338" y="3443288"/>
            <a:ext cx="31375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（像是自我反思：「這個決定好不好？」）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342900" y="3743325"/>
            <a:ext cx="32804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自動熵調整機制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342900" y="4029075"/>
            <a:ext cx="3280404" cy="1143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4"/>
          <p:cNvSpPr/>
          <p:nvPr/>
        </p:nvSpPr>
        <p:spPr>
          <a:xfrm>
            <a:off x="428625" y="4127302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什麼是熵調整？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428625" y="4327327"/>
            <a:ext cx="3086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自動平衡「探索新路徑」和「利用已知好路徑」的機制 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428625" y="4579144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就像人類在新環境中：</a:t>
            </a:r>
            <a:endParaRPr lang="en-US" sz="837" dirty="0"/>
          </a:p>
        </p:txBody>
      </p:sp>
      <p:sp>
        <p:nvSpPr>
          <p:cNvPr id="40" name="Text 37"/>
          <p:cNvSpPr/>
          <p:nvPr/>
        </p:nvSpPr>
        <p:spPr>
          <a:xfrm>
            <a:off x="428625" y="4750594"/>
            <a:ext cx="18953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剛開始會多嘗試不同路線（高探索）</a:t>
            </a:r>
            <a:endParaRPr lang="en-US" sz="837" dirty="0"/>
          </a:p>
        </p:txBody>
      </p:sp>
      <p:sp>
        <p:nvSpPr>
          <p:cNvPr id="41" name="Text 38"/>
          <p:cNvSpPr/>
          <p:nvPr/>
        </p:nvSpPr>
        <p:spPr>
          <a:xfrm>
            <a:off x="428625" y="4922044"/>
            <a:ext cx="2009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熟悉後會走已知的最佳路線（高利用） </a:t>
            </a:r>
            <a:endParaRPr lang="en-US" sz="837" dirty="0"/>
          </a:p>
        </p:txBody>
      </p:sp>
      <p:sp>
        <p:nvSpPr>
          <p:cNvPr id="42" name="Shape 39"/>
          <p:cNvSpPr/>
          <p:nvPr/>
        </p:nvSpPr>
        <p:spPr>
          <a:xfrm>
            <a:off x="3794754" y="1171575"/>
            <a:ext cx="5006346" cy="342900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88" y="1314450"/>
            <a:ext cx="4286250" cy="314325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4606909" y="4657725"/>
            <a:ext cx="33820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ASAC系統架構圖：整合SAC、DWA、Tile Coding和非稀疏獎勵的完整學習循環</a:t>
            </a:r>
            <a:endParaRPr lang="en-US" sz="732" dirty="0"/>
          </a:p>
        </p:txBody>
      </p:sp>
      <p:sp>
        <p:nvSpPr>
          <p:cNvPr id="45" name="Text 41"/>
          <p:cNvSpPr/>
          <p:nvPr/>
        </p:nvSpPr>
        <p:spPr>
          <a:xfrm>
            <a:off x="8935743" y="5200650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實驗設計與比較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32804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測試場景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085850"/>
            <a:ext cx="3280404" cy="3714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171575"/>
            <a:ext cx="31089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在四種不同的環境中測試算法表現：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14350" y="1555552"/>
            <a:ext cx="3307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環境1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845083" y="1555552"/>
            <a:ext cx="18002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：單一移動障礙物與機器人交叉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14350" y="1755577"/>
            <a:ext cx="3307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環境2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845083" y="1755577"/>
            <a:ext cx="14880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：多個移動障礙物（6個）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14350" y="1955602"/>
            <a:ext cx="3307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環境3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845083" y="1955602"/>
            <a:ext cx="1763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：混合障礙物（2動態+4靜態）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14350" y="2155627"/>
            <a:ext cx="3307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環境4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845083" y="2155627"/>
            <a:ext cx="17086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：擁擠場景（10靜態+2動態）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42900" y="2457450"/>
            <a:ext cx="32804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比較方法與評估指標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42900" y="2743200"/>
            <a:ext cx="3280404" cy="114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342900" y="2743200"/>
            <a:ext cx="21431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414338" y="279320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比較算法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871538" y="2793206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585788" y="2993231"/>
            <a:ext cx="3192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DDPG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905052" y="2993231"/>
            <a:ext cx="2286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：確定性策略梯度（類似直接學習最佳動作）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85788" y="3164681"/>
            <a:ext cx="2275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PPO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813383" y="3164681"/>
            <a:ext cx="2171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：近端策略優化（穩定但保守的學習方法）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585788" y="3336131"/>
            <a:ext cx="205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SAC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791533" y="3336131"/>
            <a:ext cx="18656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：軟演員-評論家（平衡探索與利用）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585788" y="3507581"/>
            <a:ext cx="2687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SAC*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854515" y="3507581"/>
            <a:ext cx="1120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：帶自動熵調整的SAC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585788" y="3679031"/>
            <a:ext cx="2788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864589" y="3679031"/>
            <a:ext cx="12344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：本文提出的自適應SAC</a:t>
            </a:r>
            <a:endParaRPr lang="en-US" sz="837" dirty="0"/>
          </a:p>
        </p:txBody>
      </p:sp>
      <p:sp>
        <p:nvSpPr>
          <p:cNvPr id="30" name="Shape 27"/>
          <p:cNvSpPr/>
          <p:nvPr/>
        </p:nvSpPr>
        <p:spPr>
          <a:xfrm>
            <a:off x="342900" y="3914775"/>
            <a:ext cx="3280404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8"/>
          <p:cNvSpPr/>
          <p:nvPr/>
        </p:nvSpPr>
        <p:spPr>
          <a:xfrm>
            <a:off x="342900" y="3914775"/>
            <a:ext cx="21431" cy="800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414338" y="3964781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評估指標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871538" y="3964781"/>
            <a:ext cx="114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 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585788" y="416480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平均路徑偏差</a:t>
            </a:r>
            <a:endParaRPr lang="en-US" sz="837" dirty="0"/>
          </a:p>
        </p:txBody>
      </p:sp>
      <p:sp>
        <p:nvSpPr>
          <p:cNvPr id="35" name="Text 32"/>
          <p:cNvSpPr/>
          <p:nvPr/>
        </p:nvSpPr>
        <p:spPr>
          <a:xfrm>
            <a:off x="1271588" y="4164806"/>
            <a:ext cx="1943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：路徑與直線距離的偏差（越小越好）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585788" y="433625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累積航向變化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1271588" y="4336256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：轉彎平滑度指標（越小越平穩）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585788" y="4507706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到達時間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1042988" y="4507706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：完成任務所需時間（越短越好）</a:t>
            </a:r>
            <a:endParaRPr lang="en-US" sz="837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54" y="900113"/>
            <a:ext cx="5005983" cy="28575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797726" y="3814763"/>
            <a:ext cx="3000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各算法在四種環境中的性能比較（數值越低越好，相對表現百分比）</a:t>
            </a:r>
            <a:endParaRPr lang="en-US" sz="732" dirty="0"/>
          </a:p>
        </p:txBody>
      </p:sp>
      <p:sp>
        <p:nvSpPr>
          <p:cNvPr id="42" name="Shape 38"/>
          <p:cNvSpPr/>
          <p:nvPr/>
        </p:nvSpPr>
        <p:spPr>
          <a:xfrm>
            <a:off x="3794754" y="4071938"/>
            <a:ext cx="5006346" cy="5715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3" name="Text 39"/>
          <p:cNvSpPr/>
          <p:nvPr/>
        </p:nvSpPr>
        <p:spPr>
          <a:xfrm>
            <a:off x="3938327" y="4170164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實驗結果摘要：</a:t>
            </a:r>
            <a:endParaRPr lang="en-US" sz="942" dirty="0"/>
          </a:p>
        </p:txBody>
      </p:sp>
      <p:sp>
        <p:nvSpPr>
          <p:cNvPr id="44" name="Text 40"/>
          <p:cNvSpPr/>
          <p:nvPr/>
        </p:nvSpPr>
        <p:spPr>
          <a:xfrm>
            <a:off x="4838467" y="4170164"/>
            <a:ext cx="26616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ASAC在所有指標上都優於其他方法，特別是在</a:t>
            </a:r>
            <a:endParaRPr lang="en-US" sz="942" dirty="0"/>
          </a:p>
        </p:txBody>
      </p:sp>
      <p:sp>
        <p:nvSpPr>
          <p:cNvPr id="45" name="Text 41"/>
          <p:cNvSpPr/>
          <p:nvPr/>
        </p:nvSpPr>
        <p:spPr>
          <a:xfrm>
            <a:off x="7500128" y="4170164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到達時間</a:t>
            </a:r>
            <a:endParaRPr lang="en-US" sz="942" dirty="0"/>
          </a:p>
        </p:txBody>
      </p:sp>
      <p:sp>
        <p:nvSpPr>
          <p:cNvPr id="46" name="Text 42"/>
          <p:cNvSpPr/>
          <p:nvPr/>
        </p:nvSpPr>
        <p:spPr>
          <a:xfrm>
            <a:off x="8014506" y="4170164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endParaRPr lang="en-US" sz="942" dirty="0"/>
          </a:p>
        </p:txBody>
      </p:sp>
      <p:sp>
        <p:nvSpPr>
          <p:cNvPr id="47" name="Text 43"/>
          <p:cNvSpPr/>
          <p:nvPr/>
        </p:nvSpPr>
        <p:spPr>
          <a:xfrm>
            <a:off x="8143122" y="4170164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累積航向</a:t>
            </a:r>
            <a:endParaRPr lang="en-US" sz="942" dirty="0"/>
          </a:p>
        </p:txBody>
      </p:sp>
      <p:sp>
        <p:nvSpPr>
          <p:cNvPr id="48" name="Text 44"/>
          <p:cNvSpPr/>
          <p:nvPr/>
        </p:nvSpPr>
        <p:spPr>
          <a:xfrm>
            <a:off x="4561954" y="4370189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變化</a:t>
            </a:r>
            <a:endParaRPr lang="en-US" sz="942" dirty="0"/>
          </a:p>
        </p:txBody>
      </p:sp>
      <p:sp>
        <p:nvSpPr>
          <p:cNvPr id="49" name="Text 45"/>
          <p:cNvSpPr/>
          <p:nvPr/>
        </p:nvSpPr>
        <p:spPr>
          <a:xfrm>
            <a:off x="4819157" y="4370189"/>
            <a:ext cx="32147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方面表現最佳，證明了其在動態環境中的適應性和效率。</a:t>
            </a:r>
            <a:endParaRPr lang="en-US" sz="942" dirty="0"/>
          </a:p>
        </p:txBody>
      </p:sp>
      <p:sp>
        <p:nvSpPr>
          <p:cNvPr id="50" name="Text 46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優點與貢獻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ASAC 算法的主要優勢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4350" y="1144786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即時適應能力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14350" y="1343025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能夠根據環境變化自動調整參數，就像老司機能隨時應對不同路況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14350" y="1557338"/>
            <a:ext cx="2857026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10916"/>
            <a:ext cx="96441" cy="971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516" y="1591270"/>
            <a:ext cx="261771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傳統方法使用固定參數，而ASAC能自動調整DWA的權重參數 </a:t>
            </a:r>
            <a:endParaRPr lang="en-US" sz="711" dirty="0"/>
          </a:p>
        </p:txBody>
      </p:sp>
      <p:sp>
        <p:nvSpPr>
          <p:cNvPr id="10" name="Text 6"/>
          <p:cNvSpPr/>
          <p:nvPr/>
        </p:nvSpPr>
        <p:spPr>
          <a:xfrm>
            <a:off x="514350" y="1847748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路徑品質提升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514350" y="2045987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產生更平滑、更短、更精確的路徑，減少不必要的繞路和急轉彎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14350" y="2260299"/>
            <a:ext cx="2595916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3877"/>
            <a:ext cx="96441" cy="971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516" y="2294232"/>
            <a:ext cx="23566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實驗顯示比其他方法有更小的路徑偏差和更平滑的軌跡 </a:t>
            </a:r>
            <a:endParaRPr lang="en-US" sz="711" dirty="0"/>
          </a:p>
        </p:txBody>
      </p:sp>
      <p:sp>
        <p:nvSpPr>
          <p:cNvPr id="15" name="Text 10"/>
          <p:cNvSpPr/>
          <p:nvPr/>
        </p:nvSpPr>
        <p:spPr>
          <a:xfrm>
            <a:off x="514350" y="2550709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學習效率提高</a:t>
            </a:r>
            <a:endParaRPr lang="en-US" sz="1046" dirty="0"/>
          </a:p>
        </p:txBody>
      </p:sp>
      <p:sp>
        <p:nvSpPr>
          <p:cNvPr id="16" name="Text 11"/>
          <p:cNvSpPr/>
          <p:nvPr/>
        </p:nvSpPr>
        <p:spPr>
          <a:xfrm>
            <a:off x="514350" y="2748948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使用「非稀疏獎勵」設計，就像給學生提供更詳細的評分而非僅是及格/不及格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514350" y="2963261"/>
            <a:ext cx="3373022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16839"/>
            <a:ext cx="96441" cy="971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6516" y="2997194"/>
            <a:ext cx="31337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非稀疏獎勵：在每個時間步都提供有意義的反饋，而非只在終點才給獎勵 </a:t>
            </a:r>
            <a:endParaRPr lang="en-US" sz="711" dirty="0"/>
          </a:p>
        </p:txBody>
      </p:sp>
      <p:sp>
        <p:nvSpPr>
          <p:cNvPr id="20" name="Text 14"/>
          <p:cNvSpPr/>
          <p:nvPr/>
        </p:nvSpPr>
        <p:spPr>
          <a:xfrm>
            <a:off x="514350" y="3253671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特徵表示增強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514350" y="3451910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使用「瓦片編碼」技術，幫助機器人更好地理解自己的狀態，減少混淆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514350" y="3666223"/>
            <a:ext cx="3081607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19801"/>
            <a:ext cx="96441" cy="971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516" y="3700156"/>
            <a:ext cx="284229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瓦片編碼：將連續空間分割成多個重疊的網格，提高特徵表示能力 </a:t>
            </a:r>
            <a:endParaRPr lang="en-US" sz="711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321" y="991586"/>
            <a:ext cx="2143125" cy="2571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37945" y="3620486"/>
            <a:ext cx="1845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 與其他方法在不同性能指標上的比較</a:t>
            </a:r>
            <a:endParaRPr lang="en-US" sz="732" dirty="0"/>
          </a:p>
        </p:txBody>
      </p:sp>
      <p:sp>
        <p:nvSpPr>
          <p:cNvPr id="27" name="Shape 19"/>
          <p:cNvSpPr/>
          <p:nvPr/>
        </p:nvSpPr>
        <p:spPr>
          <a:xfrm>
            <a:off x="1371600" y="4069147"/>
            <a:ext cx="6400800" cy="57150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5994" y="4190591"/>
            <a:ext cx="96441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663043" y="4167374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簡單來說：</a:t>
            </a:r>
            <a:endParaRPr lang="en-US" sz="942" dirty="0"/>
          </a:p>
        </p:txBody>
      </p:sp>
      <p:sp>
        <p:nvSpPr>
          <p:cNvPr id="30" name="Text 21"/>
          <p:cNvSpPr/>
          <p:nvPr/>
        </p:nvSpPr>
        <p:spPr>
          <a:xfrm>
            <a:off x="2306008" y="4167374"/>
            <a:ext cx="53619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ASAC結合了傳統方法的安全性和強化學習的適應性，就像是給機器人配備了「經驗」和「學習</a:t>
            </a:r>
            <a:endParaRPr lang="en-US" sz="942" dirty="0"/>
          </a:p>
        </p:txBody>
      </p:sp>
      <p:sp>
        <p:nvSpPr>
          <p:cNvPr id="31" name="Text 22"/>
          <p:cNvSpPr/>
          <p:nvPr/>
        </p:nvSpPr>
        <p:spPr>
          <a:xfrm>
            <a:off x="3189656" y="4367399"/>
            <a:ext cx="2764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能力」，讓它能在複雜環境中更聰明地規劃路徑。 </a:t>
            </a:r>
            <a:endParaRPr lang="en-US" sz="942" dirty="0"/>
          </a:p>
        </p:txBody>
      </p:sp>
      <p:sp>
        <p:nvSpPr>
          <p:cNvPr id="32" name="Text 23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00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缺點與限制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ASAC 方法的局限性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4350" y="1144786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訓練依賴模擬環境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14350" y="1343025"/>
            <a:ext cx="48348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需要在模擬環境中大量訓練才能應用到真實世界，就像飛行員需要先在模擬器中練習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14350" y="1557338"/>
            <a:ext cx="2753274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10916"/>
            <a:ext cx="96441" cy="971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516" y="1591270"/>
            <a:ext cx="251395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真實部署時需要解決「模擬到現實」(sim2real)的差異問題 </a:t>
            </a:r>
            <a:endParaRPr lang="en-US" sz="711" dirty="0"/>
          </a:p>
        </p:txBody>
      </p:sp>
      <p:sp>
        <p:nvSpPr>
          <p:cNvPr id="10" name="Text 6"/>
          <p:cNvSpPr/>
          <p:nvPr/>
        </p:nvSpPr>
        <p:spPr>
          <a:xfrm>
            <a:off x="514350" y="1847748"/>
            <a:ext cx="11827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DWA預測窗口有限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514350" y="2045987"/>
            <a:ext cx="48348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只能預測短時間內的情況，在高速或複雜環境中可能不夠，就像只能看到前方10米的路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14350" y="2460324"/>
            <a:ext cx="2911497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3902"/>
            <a:ext cx="96441" cy="971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516" y="2494257"/>
            <a:ext cx="26721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DWA算法本身的局限性：只考慮有限時間窗口內的障礙物運動 </a:t>
            </a:r>
            <a:endParaRPr lang="en-US" sz="711" dirty="0"/>
          </a:p>
        </p:txBody>
      </p:sp>
      <p:sp>
        <p:nvSpPr>
          <p:cNvPr id="15" name="Text 10"/>
          <p:cNvSpPr/>
          <p:nvPr/>
        </p:nvSpPr>
        <p:spPr>
          <a:xfrm>
            <a:off x="514350" y="2750734"/>
            <a:ext cx="1428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參數設計仍需人工干預</a:t>
            </a:r>
            <a:endParaRPr lang="en-US" sz="1046" dirty="0"/>
          </a:p>
        </p:txBody>
      </p:sp>
      <p:sp>
        <p:nvSpPr>
          <p:cNvPr id="16" name="Text 11"/>
          <p:cNvSpPr/>
          <p:nvPr/>
        </p:nvSpPr>
        <p:spPr>
          <a:xfrm>
            <a:off x="514350" y="2948973"/>
            <a:ext cx="48348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獎勵函數和Tile Coding參數需要人工設計，不能完全自動化，就像需要人為設定學習目標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514350" y="3363311"/>
            <a:ext cx="2887331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6889"/>
            <a:ext cx="96441" cy="971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6516" y="3397244"/>
            <a:ext cx="264801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獎勵函數設計是強化學習中的常見挑戰，需要專業知識和經驗 </a:t>
            </a:r>
            <a:endParaRPr lang="en-US" sz="711" dirty="0"/>
          </a:p>
        </p:txBody>
      </p:sp>
      <p:sp>
        <p:nvSpPr>
          <p:cNvPr id="20" name="Text 14"/>
          <p:cNvSpPr/>
          <p:nvPr/>
        </p:nvSpPr>
        <p:spPr>
          <a:xfrm>
            <a:off x="514350" y="3653721"/>
            <a:ext cx="1000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計算複雜度較高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514350" y="3851960"/>
            <a:ext cx="48348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比傳統方法需要更多計算資源，可能影響實時性能，特別是在資源受限的機器人平台上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514350" y="4266298"/>
            <a:ext cx="2522944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19876"/>
            <a:ext cx="96441" cy="971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516" y="4300231"/>
            <a:ext cx="22836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神經網絡的前向傳播和DWA算法結合增加了計算負擔 </a:t>
            </a:r>
            <a:endParaRPr lang="en-US" sz="711" dirty="0"/>
          </a:p>
        </p:txBody>
      </p:sp>
      <p:sp>
        <p:nvSpPr>
          <p:cNvPr id="25" name="Text 18"/>
          <p:cNvSpPr/>
          <p:nvPr/>
        </p:nvSpPr>
        <p:spPr>
          <a:xfrm>
            <a:off x="514350" y="4556708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泛化能力有待驗證</a:t>
            </a:r>
            <a:endParaRPr lang="en-US" sz="1046" dirty="0"/>
          </a:p>
        </p:txBody>
      </p:sp>
      <p:sp>
        <p:nvSpPr>
          <p:cNvPr id="26" name="Text 19"/>
          <p:cNvSpPr/>
          <p:nvPr/>
        </p:nvSpPr>
        <p:spPr>
          <a:xfrm>
            <a:off x="514350" y="4754947"/>
            <a:ext cx="48348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在訓練環境之外的場景表現需要進一步測試，就像學生能否將課堂知識應用到實際問題</a:t>
            </a:r>
            <a:endParaRPr lang="en-US" sz="942" dirty="0"/>
          </a:p>
        </p:txBody>
      </p:sp>
      <p:sp>
        <p:nvSpPr>
          <p:cNvPr id="27" name="Shape 20"/>
          <p:cNvSpPr/>
          <p:nvPr/>
        </p:nvSpPr>
        <p:spPr>
          <a:xfrm>
            <a:off x="514350" y="5169284"/>
            <a:ext cx="2984469" cy="202899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22863"/>
            <a:ext cx="96441" cy="9716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6516" y="5203217"/>
            <a:ext cx="27451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1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論文中只測試了四種環境，更多複雜場景的適應性尚未充分驗證 </a:t>
            </a:r>
            <a:endParaRPr lang="en-US" sz="711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321" y="1300190"/>
            <a:ext cx="2143125" cy="25717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0955" y="3929090"/>
            <a:ext cx="171983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ASAC方法的主要限制及其影響程度評估</a:t>
            </a:r>
            <a:endParaRPr lang="en-US" sz="732" dirty="0"/>
          </a:p>
        </p:txBody>
      </p:sp>
      <p:sp>
        <p:nvSpPr>
          <p:cNvPr id="32" name="Shape 23"/>
          <p:cNvSpPr/>
          <p:nvPr/>
        </p:nvSpPr>
        <p:spPr>
          <a:xfrm>
            <a:off x="5520668" y="4186265"/>
            <a:ext cx="3280432" cy="7715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7289" y="4307709"/>
            <a:ext cx="96441" cy="128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04338" y="4284492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未來改進方向：</a:t>
            </a:r>
            <a:endParaRPr lang="en-US" sz="942" dirty="0"/>
          </a:p>
        </p:txBody>
      </p:sp>
      <p:sp>
        <p:nvSpPr>
          <p:cNvPr id="35" name="Text 25"/>
          <p:cNvSpPr/>
          <p:nvPr/>
        </p:nvSpPr>
        <p:spPr>
          <a:xfrm>
            <a:off x="5617778" y="4484517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針對這些限制，可以探索</a:t>
            </a:r>
            <a:endParaRPr lang="en-US" sz="942" dirty="0"/>
          </a:p>
        </p:txBody>
      </p:sp>
      <p:sp>
        <p:nvSpPr>
          <p:cNvPr id="36" name="Text 26"/>
          <p:cNvSpPr/>
          <p:nvPr/>
        </p:nvSpPr>
        <p:spPr>
          <a:xfrm>
            <a:off x="7032268" y="448451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域適應技術</a:t>
            </a:r>
            <a:endParaRPr lang="en-US" sz="942" dirty="0"/>
          </a:p>
        </p:txBody>
      </p:sp>
      <p:sp>
        <p:nvSpPr>
          <p:cNvPr id="37" name="Text 27"/>
          <p:cNvSpPr/>
          <p:nvPr/>
        </p:nvSpPr>
        <p:spPr>
          <a:xfrm>
            <a:off x="7675234" y="4484517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endParaRPr lang="en-US" sz="942" dirty="0"/>
          </a:p>
        </p:txBody>
      </p:sp>
      <p:sp>
        <p:nvSpPr>
          <p:cNvPr id="38" name="Text 28"/>
          <p:cNvSpPr/>
          <p:nvPr/>
        </p:nvSpPr>
        <p:spPr>
          <a:xfrm>
            <a:off x="7803849" y="4484517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長時間預測模型</a:t>
            </a:r>
            <a:endParaRPr lang="en-US" sz="942" dirty="0"/>
          </a:p>
        </p:txBody>
      </p:sp>
      <p:sp>
        <p:nvSpPr>
          <p:cNvPr id="39" name="Text 29"/>
          <p:cNvSpPr/>
          <p:nvPr/>
        </p:nvSpPr>
        <p:spPr>
          <a:xfrm>
            <a:off x="5874953" y="4684542"/>
            <a:ext cx="128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endParaRPr lang="en-US" sz="942" dirty="0"/>
          </a:p>
        </p:txBody>
      </p:sp>
      <p:sp>
        <p:nvSpPr>
          <p:cNvPr id="40" name="Text 30"/>
          <p:cNvSpPr/>
          <p:nvPr/>
        </p:nvSpPr>
        <p:spPr>
          <a:xfrm>
            <a:off x="6003568" y="4684542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自動參數調整</a:t>
            </a:r>
            <a:endParaRPr lang="en-US" sz="942" dirty="0"/>
          </a:p>
        </p:txBody>
      </p:sp>
      <p:sp>
        <p:nvSpPr>
          <p:cNvPr id="41" name="Text 31"/>
          <p:cNvSpPr/>
          <p:nvPr/>
        </p:nvSpPr>
        <p:spPr>
          <a:xfrm>
            <a:off x="6775121" y="4684542"/>
            <a:ext cx="16716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等方法來進一步提升系統性能 </a:t>
            </a:r>
            <a:endParaRPr lang="en-US" sz="942" dirty="0"/>
          </a:p>
        </p:txBody>
      </p:sp>
      <p:sp>
        <p:nvSpPr>
          <p:cNvPr id="42" name="Text 32"/>
          <p:cNvSpPr/>
          <p:nvPr/>
        </p:nvSpPr>
        <p:spPr>
          <a:xfrm>
            <a:off x="8935743" y="5486484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啟發與未來工作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42900" y="800100"/>
            <a:ext cx="5006318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21556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1" y="1196578"/>
            <a:ext cx="125016" cy="7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885825"/>
            <a:ext cx="43705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擴展到其他局部規劃器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892969" y="1126927"/>
            <a:ext cx="1985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將ASAC方法應用於其他規劃器，如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2878234" y="1126927"/>
            <a:ext cx="2265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TEB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3104824" y="1126927"/>
            <a:ext cx="20574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（時間彈性帶，像是有彈性的路徑規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892969" y="1326952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劃）和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278759" y="1326952"/>
            <a:ext cx="2757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MPC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1554463" y="1326952"/>
            <a:ext cx="28289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（模型預測控制，像是預測多步未來的控制方法）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342900" y="1714500"/>
            <a:ext cx="5006318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625" y="1935956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2" y="2110978"/>
            <a:ext cx="160734" cy="71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969" y="1800225"/>
            <a:ext cx="43705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與感知模組結合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892969" y="2041327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開發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1150172" y="2041327"/>
            <a:ext cx="941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端到端感知-規劃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2091696" y="2041327"/>
            <a:ext cx="3086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系統，讓機器人直接從相機或雷達數據學習路徑規劃，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892969" y="2241352"/>
            <a:ext cx="3086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減少中間處理步驟，就像人類直接從視覺判斷如何行走</a:t>
            </a:r>
            <a:endParaRPr lang="en-US" sz="942" dirty="0"/>
          </a:p>
        </p:txBody>
      </p:sp>
      <p:sp>
        <p:nvSpPr>
          <p:cNvPr id="22" name="Shape 17"/>
          <p:cNvSpPr/>
          <p:nvPr/>
        </p:nvSpPr>
        <p:spPr>
          <a:xfrm>
            <a:off x="342900" y="2628900"/>
            <a:ext cx="5006318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428625" y="2850356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2" y="3025378"/>
            <a:ext cx="178594" cy="71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2969" y="2714625"/>
            <a:ext cx="43705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真機測試與sim2real遷移</a:t>
            </a:r>
            <a:endParaRPr lang="en-US" sz="1046" dirty="0"/>
          </a:p>
        </p:txBody>
      </p:sp>
      <p:sp>
        <p:nvSpPr>
          <p:cNvPr id="26" name="Text 20"/>
          <p:cNvSpPr/>
          <p:nvPr/>
        </p:nvSpPr>
        <p:spPr>
          <a:xfrm>
            <a:off x="892969" y="2955727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研究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1150172" y="2955727"/>
            <a:ext cx="11531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 adaptation</a:t>
            </a:r>
            <a:endParaRPr lang="en-US" sz="942" dirty="0"/>
          </a:p>
        </p:txBody>
      </p:sp>
      <p:sp>
        <p:nvSpPr>
          <p:cNvPr id="28" name="Text 22"/>
          <p:cNvSpPr/>
          <p:nvPr/>
        </p:nvSpPr>
        <p:spPr>
          <a:xfrm>
            <a:off x="2303357" y="2955727"/>
            <a:ext cx="28289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（領域適應）技術，解決模擬到真實環境的差異問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892969" y="3155752"/>
            <a:ext cx="3086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題，就像把在遊戲中學到的駕駛技能應用到真實道路上</a:t>
            </a:r>
            <a:endParaRPr lang="en-US" sz="942" dirty="0"/>
          </a:p>
        </p:txBody>
      </p:sp>
      <p:sp>
        <p:nvSpPr>
          <p:cNvPr id="30" name="Shape 24"/>
          <p:cNvSpPr/>
          <p:nvPr/>
        </p:nvSpPr>
        <p:spPr>
          <a:xfrm>
            <a:off x="342900" y="3543300"/>
            <a:ext cx="5006318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428625" y="3764756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22" y="3939778"/>
            <a:ext cx="178594" cy="71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92969" y="3629025"/>
            <a:ext cx="43705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多機協作與群體導航</a:t>
            </a:r>
            <a:endParaRPr lang="en-US" sz="1046" dirty="0"/>
          </a:p>
        </p:txBody>
      </p:sp>
      <p:sp>
        <p:nvSpPr>
          <p:cNvPr id="34" name="Text 27"/>
          <p:cNvSpPr/>
          <p:nvPr/>
        </p:nvSpPr>
        <p:spPr>
          <a:xfrm>
            <a:off x="892969" y="3870127"/>
            <a:ext cx="385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擴展到</a:t>
            </a:r>
            <a:endParaRPr lang="en-US" sz="942" dirty="0"/>
          </a:p>
        </p:txBody>
      </p:sp>
      <p:sp>
        <p:nvSpPr>
          <p:cNvPr id="35" name="Text 28"/>
          <p:cNvSpPr/>
          <p:nvPr/>
        </p:nvSpPr>
        <p:spPr>
          <a:xfrm>
            <a:off x="1278759" y="3870127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多機器人協同</a:t>
            </a:r>
            <a:endParaRPr lang="en-US" sz="942" dirty="0"/>
          </a:p>
        </p:txBody>
      </p:sp>
      <p:sp>
        <p:nvSpPr>
          <p:cNvPr id="36" name="Text 29"/>
          <p:cNvSpPr/>
          <p:nvPr/>
        </p:nvSpPr>
        <p:spPr>
          <a:xfrm>
            <a:off x="2050312" y="3870127"/>
            <a:ext cx="30861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場景，研究群體智能與分散式決策，就像鳥群飛行時能</a:t>
            </a:r>
            <a:endParaRPr lang="en-US" sz="942" dirty="0"/>
          </a:p>
        </p:txBody>
      </p:sp>
      <p:sp>
        <p:nvSpPr>
          <p:cNvPr id="37" name="Text 30"/>
          <p:cNvSpPr/>
          <p:nvPr/>
        </p:nvSpPr>
        <p:spPr>
          <a:xfrm>
            <a:off x="892969" y="4070152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自動保持隊形並避免碰撞</a:t>
            </a:r>
            <a:endParaRPr lang="en-US" sz="942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0668" y="800100"/>
            <a:ext cx="3278981" cy="25717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10765" y="3429000"/>
            <a:ext cx="19002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未來研究方向的潛在影響與技術成熟度評估</a:t>
            </a:r>
            <a:endParaRPr lang="en-US" sz="732" dirty="0"/>
          </a:p>
        </p:txBody>
      </p:sp>
      <p:sp>
        <p:nvSpPr>
          <p:cNvPr id="40" name="Shape 32"/>
          <p:cNvSpPr/>
          <p:nvPr/>
        </p:nvSpPr>
        <p:spPr>
          <a:xfrm>
            <a:off x="5520668" y="3686175"/>
            <a:ext cx="3280432" cy="9715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1" name="Text 33"/>
          <p:cNvSpPr/>
          <p:nvPr/>
        </p:nvSpPr>
        <p:spPr>
          <a:xfrm>
            <a:off x="6839387" y="3784402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白話解釋：</a:t>
            </a:r>
            <a:endParaRPr lang="en-US" sz="942" dirty="0"/>
          </a:p>
        </p:txBody>
      </p:sp>
      <p:sp>
        <p:nvSpPr>
          <p:cNvPr id="42" name="Text 34"/>
          <p:cNvSpPr/>
          <p:nvPr/>
        </p:nvSpPr>
        <p:spPr>
          <a:xfrm>
            <a:off x="6447737" y="3984427"/>
            <a:ext cx="14262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泡泡越大 = 研究潛力越大</a:t>
            </a:r>
            <a:endParaRPr lang="en-US" sz="942" dirty="0"/>
          </a:p>
        </p:txBody>
      </p:sp>
      <p:sp>
        <p:nvSpPr>
          <p:cNvPr id="43" name="Text 35"/>
          <p:cNvSpPr/>
          <p:nvPr/>
        </p:nvSpPr>
        <p:spPr>
          <a:xfrm>
            <a:off x="6704912" y="4184452"/>
            <a:ext cx="9119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右側 = 影響力高</a:t>
            </a:r>
            <a:endParaRPr lang="en-US" sz="942" dirty="0"/>
          </a:p>
        </p:txBody>
      </p:sp>
      <p:sp>
        <p:nvSpPr>
          <p:cNvPr id="44" name="Text 36"/>
          <p:cNvSpPr/>
          <p:nvPr/>
        </p:nvSpPr>
        <p:spPr>
          <a:xfrm>
            <a:off x="6576324" y="4384477"/>
            <a:ext cx="11691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上方 = 技術已較成熟 </a:t>
            </a:r>
            <a:endParaRPr lang="en-US" sz="942" dirty="0"/>
          </a:p>
        </p:txBody>
      </p:sp>
      <p:sp>
        <p:nvSpPr>
          <p:cNvPr id="45" name="Text 37"/>
          <p:cNvSpPr/>
          <p:nvPr/>
        </p:nvSpPr>
        <p:spPr>
          <a:xfrm>
            <a:off x="8935743" y="4829175"/>
            <a:ext cx="653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總結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50063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研究回顧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4350" y="1155502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問題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53" y="1155502"/>
            <a:ext cx="42434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：機器人在有移動障礙物的環境中，需要即時找到安全、平穩且較短的路徑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14350" y="1441252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解法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53" y="1441252"/>
            <a:ext cx="17280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：ASAC算法結合了四大技術：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42950" y="1635919"/>
            <a:ext cx="2076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SAC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950649" y="1635919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（自動調整探索程度的學習方法）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742950" y="1807369"/>
            <a:ext cx="2603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DWA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1003334" y="1807369"/>
            <a:ext cx="1485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（提供安全保障的傳統方法）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742950" y="1978819"/>
            <a:ext cx="6084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Tile Coding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1351369" y="1978819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（改善環境理解的特徵增強技術）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742950" y="2150269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非稀疏獎勵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1314450" y="2150269"/>
            <a:ext cx="1371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（提供持續反饋加速學習）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514350" y="2412802"/>
            <a:ext cx="2572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優勢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771553" y="2412802"/>
            <a:ext cx="2443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：比傳統方法和其他強化學習方法表現更好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742950" y="260032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更好的適應能力（能應對不同環境）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742950" y="277177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更平滑的路徑（減少急轉彎）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742950" y="294322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更短的到達時間（提高效率）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14350" y="3212902"/>
            <a:ext cx="5143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973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未來方向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1028728" y="3212902"/>
            <a:ext cx="1414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：可延伸到其他應用領域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742950" y="340042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應用到其他路徑規劃器（如TEB、MPC）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742950" y="357187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與感知系統結合（端到端學習）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742950" y="374332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真實機器人測試與模擬到現實的遷移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742950" y="3914775"/>
            <a:ext cx="4606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多機器人協同導航</a:t>
            </a:r>
            <a:endParaRPr lang="en-US" sz="837" dirty="0"/>
          </a:p>
        </p:txBody>
      </p:sp>
      <p:sp>
        <p:nvSpPr>
          <p:cNvPr id="28" name="Shape 25"/>
          <p:cNvSpPr/>
          <p:nvPr/>
        </p:nvSpPr>
        <p:spPr>
          <a:xfrm>
            <a:off x="342900" y="4229100"/>
            <a:ext cx="5006318" cy="5715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2900" y="4229100"/>
            <a:ext cx="28575" cy="571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4314825"/>
            <a:ext cx="48348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"ASAC展現了人工智能與傳統方法結合的優勢，讓機器人在複雜環境中更聰明地規劃路徑，但真實應用仍需克服模擬與現實差異的挑戰。" </a:t>
            </a:r>
            <a:endParaRPr lang="en-US" sz="1046" dirty="0"/>
          </a:p>
        </p:txBody>
      </p:sp>
      <p:sp>
        <p:nvSpPr>
          <p:cNvPr id="31" name="Shape 28"/>
          <p:cNvSpPr/>
          <p:nvPr/>
        </p:nvSpPr>
        <p:spPr>
          <a:xfrm>
            <a:off x="5520668" y="971550"/>
            <a:ext cx="3280432" cy="25717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84" y="1114425"/>
            <a:ext cx="2286000" cy="22860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00880" y="3600450"/>
            <a:ext cx="29199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ASAC研究概念圖：整合四大技術組件，解決動態環境路徑規劃問題</a:t>
            </a:r>
            <a:endParaRPr lang="en-US" sz="732" dirty="0"/>
          </a:p>
        </p:txBody>
      </p:sp>
      <p:sp>
        <p:nvSpPr>
          <p:cNvPr id="34" name="Shape 30"/>
          <p:cNvSpPr/>
          <p:nvPr/>
        </p:nvSpPr>
        <p:spPr>
          <a:xfrm>
            <a:off x="5520668" y="3857625"/>
            <a:ext cx="3280432" cy="7715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877" y="3979069"/>
            <a:ext cx="96441" cy="128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32926" y="3955852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核心啟示：</a:t>
            </a:r>
            <a:endParaRPr lang="en-US" sz="942" dirty="0"/>
          </a:p>
        </p:txBody>
      </p:sp>
      <p:sp>
        <p:nvSpPr>
          <p:cNvPr id="37" name="Text 32"/>
          <p:cNvSpPr/>
          <p:nvPr/>
        </p:nvSpPr>
        <p:spPr>
          <a:xfrm>
            <a:off x="5619229" y="4155877"/>
            <a:ext cx="30832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結合傳統方法的安全性和AI的適應性，能創造出更智能</a:t>
            </a:r>
            <a:endParaRPr lang="en-US" sz="942" dirty="0"/>
          </a:p>
        </p:txBody>
      </p:sp>
      <p:sp>
        <p:nvSpPr>
          <p:cNvPr id="38" name="Text 33"/>
          <p:cNvSpPr/>
          <p:nvPr/>
        </p:nvSpPr>
        <p:spPr>
          <a:xfrm>
            <a:off x="6646506" y="4355902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的機器人導航系統 </a:t>
            </a:r>
            <a:endParaRPr lang="en-US" sz="942" dirty="0"/>
          </a:p>
        </p:txBody>
      </p:sp>
      <p:sp>
        <p:nvSpPr>
          <p:cNvPr id="39" name="Text 34"/>
          <p:cNvSpPr/>
          <p:nvPr/>
        </p:nvSpPr>
        <p:spPr>
          <a:xfrm>
            <a:off x="8870361" y="4829175"/>
            <a:ext cx="130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2025-08-12T12:56:40Z</dcterms:created>
  <dcterms:modified xsi:type="dcterms:W3CDTF">2025-08-12T12:56:40Z</dcterms:modified>
</cp:coreProperties>
</file>