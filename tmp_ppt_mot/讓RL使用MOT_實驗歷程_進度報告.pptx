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01" y="389930"/>
            <a:ext cx="787623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400" b="1" dirty="0">
                <a:solidFill>
                  <a:srgbClr val="5FB6C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進度報告 · 實驗室 MEETING · 2026-07-16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11101" y="875705"/>
            <a:ext cx="7876234" cy="119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20"/>
              </a:lnSpc>
              <a:spcAft>
                <a:spcPts val="10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RL 學會使用 </a:t>
            </a:r>
            <a:pPr algn="l" indent="0" marL="0">
              <a:lnSpc>
                <a:spcPts val="472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FB6C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MOT</a:t>
            </a:r>
            <a:pPr algn="l" indent="0" marL="0">
              <a:lnSpc>
                <a:spcPts val="4720"/>
              </a:lnSpc>
              <a:spcAft>
                <a:spcPts val="1000"/>
              </a:spcAft>
              <a:buNone/>
            </a:pPr>
            <a:endParaRPr lang="en-US" sz="4000" dirty="0"/>
          </a:p>
          <a:p>
            <a:pPr algn="l" indent="0" marL="0">
              <a:lnSpc>
                <a:spcPts val="4720"/>
              </a:lnSpc>
              <a:spcAft>
                <a:spcPts val="10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動態障礙運動資訊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1101" y="2531418"/>
            <a:ext cx="787623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700" dirty="0">
                <a:solidFill>
                  <a:srgbClr val="B8C4C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三條路線的實驗歷程與決定性結果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1101" y="3226743"/>
            <a:ext cx="1977628" cy="447675"/>
          </a:xfrm>
          <a:prstGeom prst="roundRect">
            <a:avLst>
              <a:gd name="adj" fmla="val 17021"/>
            </a:avLst>
          </a:prstGeom>
          <a:solidFill>
            <a:srgbClr val="22323F"/>
          </a:solidFill>
          <a:ln w="9525">
            <a:solidFill>
              <a:srgbClr val="33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8327" y="3350568"/>
            <a:ext cx="1635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 </a:t>
            </a:r>
            <a:pPr algn="l" indent="0" marL="0">
              <a:buNone/>
            </a:pPr>
            <a:r>
              <a:rPr lang="en-US" sz="1100" b="1" dirty="0">
                <a:solidFill>
                  <a:srgbClr val="E8EEF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差速輪 + 2D LiDAR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66430" y="3226743"/>
            <a:ext cx="1910358" cy="447675"/>
          </a:xfrm>
          <a:prstGeom prst="roundRect">
            <a:avLst>
              <a:gd name="adj" fmla="val 17021"/>
            </a:avLst>
          </a:prstGeom>
          <a:solidFill>
            <a:srgbClr val="22323F"/>
          </a:solidFill>
          <a:ln w="9525">
            <a:solidFill>
              <a:srgbClr val="33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53655" y="3350568"/>
            <a:ext cx="15666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 </a:t>
            </a:r>
            <a:pPr algn="l" indent="0" marL="0">
              <a:buNone/>
            </a:pPr>
            <a:r>
              <a:rPr lang="en-US" sz="1100" b="1" dirty="0">
                <a:solidFill>
                  <a:srgbClr val="E8EEF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密集動態行人導航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54488" y="3226743"/>
            <a:ext cx="2035076" cy="447675"/>
          </a:xfrm>
          <a:prstGeom prst="roundRect">
            <a:avLst>
              <a:gd name="adj" fmla="val 17021"/>
            </a:avLst>
          </a:prstGeom>
          <a:solidFill>
            <a:srgbClr val="22323F"/>
          </a:solidFill>
          <a:ln w="9525">
            <a:solidFill>
              <a:srgbClr val="33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1714" y="3350568"/>
            <a:ext cx="16938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觀測 </a:t>
            </a:r>
            <a:pPr algn="l" indent="0" marL="0">
              <a:buNone/>
            </a:pPr>
            <a:r>
              <a:rPr lang="en-US" sz="1100" b="1" dirty="0">
                <a:solidFill>
                  <a:srgbClr val="E8EEF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79D（無特權障礙）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1101" y="4004518"/>
            <a:ext cx="7721798" cy="749201"/>
          </a:xfrm>
          <a:prstGeom prst="roundRect">
            <a:avLst>
              <a:gd name="adj" fmla="val 10171"/>
            </a:avLst>
          </a:prstGeom>
          <a:solidFill>
            <a:srgbClr val="1E4D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49201" y="4004518"/>
            <a:ext cx="0" cy="749201"/>
          </a:xfrm>
          <a:prstGeom prst="line">
            <a:avLst/>
          </a:prstGeom>
          <a:noFill/>
          <a:ln w="76200">
            <a:solidFill>
              <a:srgbClr val="4CB7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0451" y="4156918"/>
            <a:ext cx="7384084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D6EC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一句話結論：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6EC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無論用哪種方式把速度放進系統（RNN 隱式學／顯式 channel／reward 逼），policy 都不會主動使用速度 —— 因為</a:t>
            </a:r>
            <a:pPr algn="l" indent="0" marL="0">
              <a:lnSpc>
                <a:spcPts val="1750"/>
              </a:lnSpc>
              <a:buNone/>
            </a:pPr>
            <a:r>
              <a:rPr lang="en-US" sz="1250" b="1" dirty="0">
                <a:solidFill>
                  <a:srgbClr val="D6EC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任務用不到速度就能過關</a:t>
            </a:r>
            <a:pPr algn="l"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D6ECE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11101" cy="5143500"/>
          </a:xfrm>
          <a:prstGeom prst="rect">
            <a:avLst/>
          </a:prstGeom>
          <a:solidFill>
            <a:srgbClr val="2C8C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5400000">
            <a:off x="-341784" y="2433563"/>
            <a:ext cx="142256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問題 · 動機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6651" y="279350"/>
            <a:ext cx="78762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為什麼要做這件事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066651" y="527000"/>
            <a:ext cx="787623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50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部署病理 → 假設 → 兩大路線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066651" y="1171426"/>
            <a:ext cx="7876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2E405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部署觀察到的病理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66651" y="1488877"/>
            <a:ext cx="7721798" cy="50780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撞到／極貼身才反應</a:t>
            </a:r>
            <a:pPr algn="l" indent="0" marL="0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（LiDAR 離身體 ~0.4m 才作動），對迎面／橫穿行人晚反應</a:t>
            </a:r>
            <a:endParaRPr lang="en-US" sz="1200" dirty="0"/>
          </a:p>
          <a:p>
            <a:pPr algn="l" marL="101600" indent="-101600">
              <a:lnSpc>
                <a:spcPts val="1800"/>
              </a:lnSpc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車端實測：車被行人</a:t>
            </a:r>
            <a:pPr algn="l" indent="0" marL="0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「帶著」水平側移飄走</a:t>
            </a:r>
            <a:pPr algn="l" indent="0" marL="0">
              <a:lnSpc>
                <a:spcPts val="18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（herding），逼到牆角退化成 360° 打轉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651" y="1996678"/>
            <a:ext cx="7721798" cy="741164"/>
          </a:xfrm>
          <a:prstGeom prst="roundRect">
            <a:avLst>
              <a:gd name="adj" fmla="val 8568"/>
            </a:avLst>
          </a:prstGeom>
          <a:solidFill>
            <a:srgbClr val="FBEA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104751" y="1996678"/>
            <a:ext cx="0" cy="741164"/>
          </a:xfrm>
          <a:prstGeom prst="line">
            <a:avLst/>
          </a:prstGeom>
          <a:noFill/>
          <a:ln w="76200">
            <a:solidFill>
              <a:srgbClr val="D98A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351" y="2136279"/>
            <a:ext cx="740989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E411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核心假設（要被打穿的那個）：</a:t>
            </a:r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53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policy 缺「障礙在動、往哪動、多快」→ 補上速度／未來位置 → 應能提早避讓。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6651" y="2940993"/>
            <a:ext cx="3759250" cy="1288852"/>
          </a:xfrm>
          <a:prstGeom prst="roundRect">
            <a:avLst>
              <a:gd name="adj" fmla="val 6898"/>
            </a:avLst>
          </a:prstGeom>
          <a:solidFill>
            <a:srgbClr val="FFFFFF"/>
          </a:solidFill>
          <a:ln w="9525">
            <a:solidFill>
              <a:srgbClr val="DCE2E8"/>
            </a:solidFill>
          </a:ln>
          <a:effectLst>
            <a:outerShdw sx="100000" sy="100000" kx="0" ky="0" algn="bl" rotWithShape="0" blurRad="57150" dist="21299" dir="3780000">
              <a:srgbClr val="14283c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53877" y="3102918"/>
            <a:ext cx="3452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路線 A · 表徵化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53877" y="3365748"/>
            <a:ext cx="34524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RNN 自學隱式 MOT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53877" y="3676799"/>
            <a:ext cx="3452494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部署只有 LiDAR，希望 RNN 從時序串流內部自建追蹤（velocity aux 監督）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051" y="2940993"/>
            <a:ext cx="3759398" cy="1288852"/>
          </a:xfrm>
          <a:prstGeom prst="roundRect">
            <a:avLst>
              <a:gd name="adj" fmla="val 6898"/>
            </a:avLst>
          </a:prstGeom>
          <a:solidFill>
            <a:srgbClr val="FFFFFF"/>
          </a:solidFill>
          <a:ln w="9525">
            <a:solidFill>
              <a:srgbClr val="DCE2E8"/>
            </a:solidFill>
          </a:ln>
          <a:effectLst>
            <a:outerShdw sx="100000" sy="100000" kx="0" ky="0" algn="bl" rotWithShape="0" blurRad="57150" dist="21299" dir="3780000">
              <a:srgbClr val="14283c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16277" y="3102918"/>
            <a:ext cx="34526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路線 B · 顯式 + 逼用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6277" y="3365748"/>
            <a:ext cx="34526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tracker channel 餵 obs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216277" y="3676799"/>
            <a:ext cx="345264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直接給現成速度，再用 reward shaping／必死場景逼 policy 去用它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11101" cy="5143500"/>
          </a:xfrm>
          <a:prstGeom prst="rect">
            <a:avLst/>
          </a:prstGeom>
          <a:solidFill>
            <a:srgbClr val="3A6E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17140" y="1952625"/>
            <a:ext cx="282357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 rot="5400000">
            <a:off x="88925" y="2824088"/>
            <a:ext cx="5439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BCD3E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表徵化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41202" y="253901"/>
            <a:ext cx="32071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A6E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路線 A · RNN 隱式 MOT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41202" y="492026"/>
            <a:ext cx="320717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RNN 從 LiDAR 自學追蹤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535638" y="253901"/>
            <a:ext cx="2278261" cy="396776"/>
          </a:xfrm>
          <a:prstGeom prst="roundRect">
            <a:avLst>
              <a:gd name="adj" fmla="val 64016"/>
            </a:avLst>
          </a:prstGeom>
          <a:solidFill>
            <a:srgbClr val="FBEAD0"/>
          </a:solidFill>
          <a:ln w="9525">
            <a:solidFill>
              <a:srgbClr val="E7B3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35663" y="352276"/>
            <a:ext cx="1915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3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裁決：位置可學 · 速度學不到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1202" y="1073051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A6E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41202" y="1358801"/>
            <a:ext cx="3772049" cy="92273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RNN 從 raw LiDAR 串流學障礙位置／速度（velocity aux 監督）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離線 probe：RNN hidden → 真實障礙狀態的 R² / rel err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41202" y="2408486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A6E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途中抓出的 3 個真 bug（都在繞症狀）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41202" y="2694236"/>
            <a:ext cx="3772049" cy="96083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dead-ReLU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：predict_head 末端 ReLU → 輸出恆 0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reshape 錯位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：特徵與 target 對不上 → aux 從沒真訓過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zero-velocity 標籤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：速度 label 全 0 = 量測假象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41850" y="1073051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A6EA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修好一切後的決定性數據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41850" y="1358801"/>
            <a:ext cx="3772049" cy="360462"/>
          </a:xfrm>
          <a:prstGeom prst="roundRect">
            <a:avLst>
              <a:gd name="adj" fmla="val 17616"/>
            </a:avLst>
          </a:prstGeom>
          <a:solidFill>
            <a:srgbClr val="3A6EA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041850" y="1363563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09137" y="1358801"/>
            <a:ext cx="0" cy="360462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6613" y="1358801"/>
            <a:ext cx="0" cy="360462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5675" y="1457176"/>
            <a:ext cx="1232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02611" y="1457176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60643" y="1457176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速度 R²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41850" y="1719263"/>
            <a:ext cx="3772049" cy="53369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41850" y="1724025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09137" y="1719263"/>
            <a:ext cx="0" cy="533698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6613" y="1719263"/>
            <a:ext cx="0" cy="533698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5675" y="1817638"/>
            <a:ext cx="123250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離線 GRU（架構上限）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02611" y="1817638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30.9%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60643" y="1817638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—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41850" y="2252960"/>
            <a:ext cx="3772049" cy="36046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041850" y="2257723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09137" y="2252960"/>
            <a:ext cx="0" cy="360462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46613" y="2252960"/>
            <a:ext cx="0" cy="360462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5675" y="2351336"/>
            <a:ext cx="1232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多幀+真標籤 60k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02611" y="2351336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0.27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60643" y="2351336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0.005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41850" y="2613422"/>
            <a:ext cx="3772049" cy="36046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5041850" y="2618184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09137" y="2613422"/>
            <a:ext cx="0" cy="360462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46613" y="2613422"/>
            <a:ext cx="0" cy="360462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5675" y="2711797"/>
            <a:ext cx="123250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多幀+真標籤 120k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02611" y="2711797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0.26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60643" y="2711797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0.009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41850" y="2973884"/>
            <a:ext cx="3772049" cy="53369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041850" y="2978646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9137" y="2973884"/>
            <a:ext cx="0" cy="533698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46613" y="2973884"/>
            <a:ext cx="0" cy="533698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5675" y="3072259"/>
            <a:ext cx="1232502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oracle（K 幀原始 obs）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02611" y="3072259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760643" y="3072259"/>
            <a:ext cx="948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推不出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041850" y="3609082"/>
            <a:ext cx="3772049" cy="922734"/>
          </a:xfrm>
          <a:prstGeom prst="roundRect">
            <a:avLst>
              <a:gd name="adj" fmla="val 6882"/>
            </a:avLst>
          </a:prstGeom>
          <a:solidFill>
            <a:srgbClr val="EAF0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181451" y="3710583"/>
            <a:ext cx="3562704" cy="719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3350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是輸入層問題：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3350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單幀 72-bin LiDAR 連 oracle 都推不出速度。「RNN 學不會 MOT」與「多幀輸入有用（SR 0.758 最強）」同時成立 → 運動資訊正解是</a:t>
            </a:r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3350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餵 policy 直通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3350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，非逼 RNN 編碼。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11101" cy="5143500"/>
          </a:xfrm>
          <a:prstGeom prst="rect">
            <a:avLst/>
          </a:prstGeom>
          <a:solidFill>
            <a:srgbClr val="2C8C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8508" y="1612553"/>
            <a:ext cx="29996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 rot="5400000">
            <a:off x="-251147" y="2824088"/>
            <a:ext cx="12376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BFE3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顯式 channel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41202" y="253901"/>
            <a:ext cx="30509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路線 B · 顯式 LV-DOT 速度 channel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41202" y="492026"/>
            <a:ext cx="305097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直接把速度餵進 obs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233666" y="253901"/>
            <a:ext cx="2580233" cy="396776"/>
          </a:xfrm>
          <a:prstGeom prst="roundRect">
            <a:avLst>
              <a:gd name="adj" fmla="val 64016"/>
            </a:avLst>
          </a:prstGeom>
          <a:solidFill>
            <a:srgbClr val="FBEAD0"/>
          </a:solidFill>
          <a:ln w="9525">
            <a:solidFill>
              <a:srgbClr val="E7B3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33691" y="352276"/>
            <a:ext cx="2223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3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裁決：有讀但冗餘 · channel 可省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41202" y="1073051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做法（接線已 parity 驗證 1e-8）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41202" y="1358801"/>
            <a:ext cx="3772049" cy="71110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tracker 的 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[x,y,vx,vy,r]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（K=5）直接餵 obs：79D → 109D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三把尺方法論：機制 / 行為 / 結果，缺一不可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41202" y="2184202"/>
            <a:ext cx="3772049" cy="624780"/>
          </a:xfrm>
          <a:prstGeom prst="roundRect">
            <a:avLst>
              <a:gd name="adj" fmla="val 12196"/>
            </a:avLst>
          </a:prstGeom>
          <a:solidFill>
            <a:srgbClr val="FFFFFF"/>
          </a:solidFill>
          <a:ln w="9525">
            <a:solidFill>
              <a:srgbClr val="DCE2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203127" y="2308027"/>
            <a:ext cx="351716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ablation 速度頭 KL =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0.0001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（加稅後降到 0）→ 完全不因障礙改變速度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1202" y="2910483"/>
            <a:ext cx="3772049" cy="624780"/>
          </a:xfrm>
          <a:prstGeom prst="roundRect">
            <a:avLst>
              <a:gd name="adj" fmla="val 12196"/>
            </a:avLst>
          </a:prstGeom>
          <a:solidFill>
            <a:srgbClr val="FFFFFF"/>
          </a:solidFill>
          <a:ln w="9525">
            <a:solidFill>
              <a:srgbClr val="DCE2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03127" y="3034308"/>
            <a:ext cx="3517163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行為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距障礙 0–0.5m 仍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全速 0.82 m/s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前衝、ω 全程平 → velocity-blind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1202" y="3636764"/>
            <a:ext cx="3772049" cy="436215"/>
          </a:xfrm>
          <a:prstGeom prst="roundRect">
            <a:avLst>
              <a:gd name="adj" fmla="val 17468"/>
            </a:avLst>
          </a:prstGeom>
          <a:solidFill>
            <a:srgbClr val="FFFFFF"/>
          </a:solidFill>
          <a:ln w="9525">
            <a:solidFill>
              <a:srgbClr val="DCE2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03127" y="3760589"/>
            <a:ext cx="3517163" cy="188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</a:t>
            </a:r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velocity-zero ablation ΔSR </a:t>
            </a:r>
            <a:pPr algn="l" indent="0" marL="0">
              <a:lnSpc>
                <a:spcPts val="1485"/>
              </a:lnSpc>
              <a:buNone/>
            </a:pPr>
            <a:r>
              <a:rPr lang="en-US" sz="110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≈ 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41850" y="1073051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三路 det eval（各 ~6400 回合）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41850" y="1358801"/>
            <a:ext cx="3772049" cy="335161"/>
          </a:xfrm>
          <a:prstGeom prst="roundRect">
            <a:avLst>
              <a:gd name="adj" fmla="val 18946"/>
            </a:avLst>
          </a:prstGeom>
          <a:solidFill>
            <a:srgbClr val="2C8C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41850" y="1363563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09137" y="1358801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6613" y="1358801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5675" y="1444526"/>
            <a:ext cx="13408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08874" y="1444526"/>
            <a:ext cx="8938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13774" y="1444526"/>
            <a:ext cx="8938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撞障礙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41850" y="1693962"/>
            <a:ext cx="3772049" cy="3351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041850" y="1698724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09137" y="1693962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46613" y="1693962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5675" y="1779687"/>
            <a:ext cx="13408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速度完整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08874" y="1779687"/>
            <a:ext cx="8938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63.9%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813774" y="1779687"/>
            <a:ext cx="8938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26.4%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41850" y="2029123"/>
            <a:ext cx="3772049" cy="3351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041850" y="2033885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09137" y="2029123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46613" y="2029123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5675" y="2114848"/>
            <a:ext cx="13408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只歸零 vx,vy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08874" y="2114848"/>
            <a:ext cx="8938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63.8%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813774" y="2114848"/>
            <a:ext cx="8938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26.5%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41850" y="2364284"/>
            <a:ext cx="3772049" cy="3351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5041850" y="2369046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09137" y="2364284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46613" y="2364284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5675" y="2450009"/>
            <a:ext cx="134089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整條 channel 歸零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08874" y="2450009"/>
            <a:ext cx="8938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63.9%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813774" y="2450009"/>
            <a:ext cx="89382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25.9%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41850" y="2813745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2C8C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梯度歸因翻案（H3）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041850" y="3099495"/>
            <a:ext cx="3772049" cy="960834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速度欄敏感度 = LiDAR 的 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51%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（不是 0，policy 確實有讀）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 ΔSR≈0 → 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有讀但冗餘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：反應式靠 LiDAR 就過關</a:t>
            </a:r>
            <a:endParaRPr lang="en-US" sz="1150" dirty="0"/>
          </a:p>
          <a:p>
            <a:pPr algn="l" marL="95250" indent="-95250">
              <a:lnSpc>
                <a:spcPts val="1667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★ 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梯度敏感度 ≠ 因果重要性</a:t>
            </a:r>
            <a:pPr algn="l" indent="0" marL="0">
              <a:lnSpc>
                <a:spcPts val="1667"/>
              </a:lnSpc>
              <a:spcAft>
                <a:spcPts val="3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；問題不在架構，在任務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11101" cy="5143500"/>
          </a:xfrm>
          <a:prstGeom prst="rect">
            <a:avLst/>
          </a:prstGeom>
          <a:solidFill>
            <a:srgbClr val="B066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5400000">
            <a:off x="-707380" y="2443163"/>
            <a:ext cx="21683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REWARD SHAPING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1202" y="253901"/>
            <a:ext cx="33129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B066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reward 逼 policy 用速度 / 改風格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41202" y="492026"/>
            <a:ext cx="33129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Reward shaping 的極限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324600" y="253901"/>
            <a:ext cx="2489299" cy="396776"/>
          </a:xfrm>
          <a:prstGeom prst="roundRect">
            <a:avLst>
              <a:gd name="adj" fmla="val 64016"/>
            </a:avLst>
          </a:prstGeom>
          <a:solidFill>
            <a:srgbClr val="DCEFE3"/>
          </a:solidFill>
          <a:ln w="9525">
            <a:solidFill>
              <a:srgbClr val="7CC49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24625" y="352276"/>
            <a:ext cx="2131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E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裁決：風格由 reward 經濟學決定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1202" y="1073051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066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四種逼用速度的 reward，全部無效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41202" y="1358801"/>
            <a:ext cx="3772049" cy="335161"/>
          </a:xfrm>
          <a:prstGeom prst="roundRect">
            <a:avLst>
              <a:gd name="adj" fmla="val 18946"/>
            </a:avLst>
          </a:prstGeom>
          <a:solidFill>
            <a:srgbClr val="B066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41202" y="1363563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8488" y="1358801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5964" y="1358801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5027" y="1444526"/>
            <a:ext cx="1546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09739" y="1444526"/>
            <a:ext cx="1815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41202" y="1693962"/>
            <a:ext cx="3772049" cy="508397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041202" y="1698724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8488" y="1693962"/>
            <a:ext cx="0" cy="508397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5964" y="1693962"/>
            <a:ext cx="0" cy="508397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5027" y="1779687"/>
            <a:ext cx="1546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swept-arc (r_arc)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09739" y="1779687"/>
            <a:ext cx="181528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steer-not-slow</a:t>
            </a:r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：只多轉不早煞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41202" y="2202359"/>
            <a:ext cx="3772049" cy="3351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041202" y="2207121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8488" y="2202359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5964" y="2202359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5027" y="2288084"/>
            <a:ext cx="1546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teardrop 速度稅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09739" y="2288084"/>
            <a:ext cx="1815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d_safe 分佈不動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1202" y="2537520"/>
            <a:ext cx="3772049" cy="3351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041202" y="2542282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8488" y="2537520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5964" y="2537520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65027" y="2623245"/>
            <a:ext cx="1546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TTC 門檻稅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09739" y="2623245"/>
            <a:ext cx="1815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速度頭 KL </a:t>
            </a:r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≈0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1202" y="2872680"/>
            <a:ext cx="3772049" cy="3351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041202" y="2877443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8488" y="2872680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5964" y="2872680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65027" y="2958405"/>
            <a:ext cx="1546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predictive decel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909739" y="2958405"/>
            <a:ext cx="1815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幾乎不觸發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41202" y="3322141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066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直接改 d_safe 也失敗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41202" y="3607891"/>
            <a:ext cx="3772049" cy="335161"/>
          </a:xfrm>
          <a:prstGeom prst="roundRect">
            <a:avLst>
              <a:gd name="adj" fmla="val 18946"/>
            </a:avLst>
          </a:prstGeom>
          <a:solidFill>
            <a:srgbClr val="B066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1041202" y="3612654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8488" y="3607891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5964" y="3607891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65027" y="3693616"/>
            <a:ext cx="1546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介入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2909739" y="3693616"/>
            <a:ext cx="1815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41202" y="3943052"/>
            <a:ext cx="3772049" cy="3351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1041202" y="3947815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8488" y="3943052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45964" y="3943052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65027" y="4028777"/>
            <a:ext cx="1546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gap 方向指引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909739" y="4028777"/>
            <a:ext cx="1815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SR −2，d_safe 不動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41202" y="4278213"/>
            <a:ext cx="3772049" cy="33516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1041202" y="4282976"/>
            <a:ext cx="3772049" cy="0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08488" y="4278213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5964" y="4278213"/>
            <a:ext cx="0" cy="335161"/>
          </a:xfrm>
          <a:prstGeom prst="line">
            <a:avLst/>
          </a:prstGeom>
          <a:noFill/>
          <a:ln w="9525">
            <a:solidFill>
              <a:srgbClr val="DCE2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65027" y="4363938"/>
            <a:ext cx="1546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障礙膨脹 1.15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909739" y="4363938"/>
            <a:ext cx="1815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p5 1.02→1.04 邊際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041202" y="4613374"/>
            <a:ext cx="3772049" cy="344686"/>
          </a:xfrm>
          <a:prstGeom prst="rect">
            <a:avLst/>
          </a:prstGeom>
          <a:solidFill>
            <a:srgbClr val="FFFFFF"/>
          </a:solidFill>
          <a:ln w="9525">
            <a:solidFill>
              <a:srgbClr val="DCE2E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165027" y="4699099"/>
            <a:ext cx="154643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罰 −15（動真激勵）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909739" y="4699099"/>
            <a:ext cx="18152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貼身 3.9→3.5%，</a:t>
            </a:r>
            <a:pPr algn="l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傷 SR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041850" y="1073051"/>
            <a:ext cx="38474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B066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論文級結論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041850" y="1384102"/>
            <a:ext cx="3772049" cy="2404467"/>
          </a:xfrm>
          <a:prstGeom prst="roundRect">
            <a:avLst>
              <a:gd name="adj" fmla="val 3697"/>
            </a:avLst>
          </a:prstGeom>
          <a:solidFill>
            <a:srgbClr val="1B2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232350" y="1536502"/>
            <a:ext cx="3458870" cy="22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spcAft>
                <a:spcPts val="700"/>
              </a:spcAft>
              <a:buNone/>
            </a:pPr>
            <a:r>
              <a:rPr lang="en-US" sz="1250" b="1" dirty="0">
                <a:solidFill>
                  <a:srgbClr val="8FE0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避障風格由 reward 經濟學決定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5232350" y="1847552"/>
            <a:ext cx="345887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D3DE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不由感知能力或方向指引決定。跨政策 d_safe 分佈完全重疊 —— 誰來學都長一樣。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232350" y="2314873"/>
            <a:ext cx="3391049" cy="752475"/>
          </a:xfrm>
          <a:prstGeom prst="roundRect">
            <a:avLst>
              <a:gd name="adj" fmla="val 6751"/>
            </a:avLst>
          </a:prstGeom>
          <a:solidFill>
            <a:srgbClr val="243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346650" y="2391073"/>
            <a:ext cx="322569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 = Σ γᵗ rₜ；goal +40 / 撞 −15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撞機率&lt;⅓ + goal respawn + timeout 免費</a:t>
            </a:r>
            <a:endParaRPr lang="en-US" sz="1050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D9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⟹ EV(貼身衝) &gt; EV(繞遠) = 最優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5232350" y="3168848"/>
            <a:ext cx="345887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3DE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接觸前零避障梯度</a:t>
            </a:r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100" dirty="0">
                <a:solidFill>
                  <a:srgbClr val="D3DE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policy 撞到才知道。</a:t>
            </a:r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3DE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貼身最短路 = 數學最優。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11101" cy="5143500"/>
          </a:xfrm>
          <a:prstGeom prst="rect">
            <a:avLst/>
          </a:prstGeom>
          <a:solidFill>
            <a:srgbClr val="566B7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5400000">
            <a:off x="-76126" y="2443088"/>
            <a:ext cx="88061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必死場景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41202" y="253901"/>
            <a:ext cx="322266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56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造「純反應式必死」場景逼 policy 用速度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41202" y="492026"/>
            <a:ext cx="32226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逼純反應式走不通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878092" y="253901"/>
            <a:ext cx="1935807" cy="396776"/>
          </a:xfrm>
          <a:prstGeom prst="roundRect">
            <a:avLst>
              <a:gd name="adj" fmla="val 64016"/>
            </a:avLst>
          </a:prstGeom>
          <a:solidFill>
            <a:srgbClr val="FBEAD0"/>
          </a:solidFill>
          <a:ln w="9525">
            <a:solidFill>
              <a:srgbClr val="E7B3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78117" y="352276"/>
            <a:ext cx="15664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531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裁決：先撞到別的天花板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41202" y="1098352"/>
            <a:ext cx="3772049" cy="3019127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9525">
            <a:solidFill>
              <a:srgbClr val="DCE2E8"/>
            </a:solidFill>
          </a:ln>
          <a:effectLst>
            <a:outerShdw sx="100000" sy="100000" kx="0" ky="0" algn="bl" rotWithShape="0" blurRad="57150" dist="21299" dir="3780000">
              <a:srgbClr val="14283c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53877" y="1285577"/>
            <a:ext cx="34136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12×12 / 20 障礙高密度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53877" y="1603028"/>
            <a:ext cx="34136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56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0.14/m² · 14× 密度 + TTC 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53877" y="1907828"/>
            <a:ext cx="3346698" cy="122143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25"/>
              </a:lnSpc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牆碰主宰 0.77</a:t>
            </a:r>
            <a:pPr algn="l" indent="0" marL="0">
              <a:lnSpc>
                <a:spcPts val="1725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：縮小場 SR 天花板與 arena 尺寸綁死，卡結構性平台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 障礙在 144m² 接近</a:t>
            </a:r>
            <a:pPr algn="l" indent="0" marL="0">
              <a:lnSpc>
                <a:spcPts val="1725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 packing 極限</a:t>
            </a:r>
            <a:pPr algn="l" indent="0" marL="0">
              <a:lnSpc>
                <a:spcPts val="1725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goal 放不下（resample fallback 爆）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channel 仍未被用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41850" y="1098352"/>
            <a:ext cx="3772049" cy="3019127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9525">
            <a:solidFill>
              <a:srgbClr val="DCE2E8"/>
            </a:solidFill>
          </a:ln>
          <a:effectLst>
            <a:outerShdw sx="100000" sy="100000" kx="0" ky="0" algn="bl" rotWithShape="0" blurRad="57150" dist="21299" dir="3780000">
              <a:srgbClr val="14283c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54526" y="1285577"/>
            <a:ext cx="34136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near-wall crossing（herding 診斷場）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254526" y="1603028"/>
            <a:ext cx="341363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566B7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行人橫越 · 牆在去向側 · goal 不洩漏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54526" y="1907828"/>
            <a:ext cx="3346698" cy="100250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725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決定性重現：</a:t>
            </a:r>
            <a:pPr algn="l" indent="0" marL="0">
              <a:lnSpc>
                <a:spcPts val="1725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SA4 c89600 = 7/8 出現 ≥360°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telemetry：一直往同方向轉但仍前進 = </a:t>
            </a:r>
            <a:pPr algn="l" indent="0" marL="0">
              <a:lnSpc>
                <a:spcPts val="1725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moving arc（側移飄走）</a:t>
            </a:r>
            <a:endParaRPr lang="en-US" sz="1150" dirty="0"/>
          </a:p>
          <a:p>
            <a:pPr algn="l" marL="95250" indent="-95250">
              <a:lnSpc>
                <a:spcPts val="1725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首轉正確僅 </a:t>
            </a:r>
            <a:pPr algn="l" indent="0" marL="0">
              <a:lnSpc>
                <a:spcPts val="1725"/>
              </a:lnSpc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4/12</a:t>
            </a:r>
            <a:pPr algn="l" indent="0" marL="0">
              <a:lnSpc>
                <a:spcPts val="1725"/>
              </a:lnSpc>
              <a:spcAft>
                <a:spcPts val="500"/>
              </a:spcAft>
              <a:buNone/>
            </a:pPr>
            <a:r>
              <a:rPr lang="en-US" sz="11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第一次 commit 常錯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41202" y="4269879"/>
            <a:ext cx="7772698" cy="619720"/>
          </a:xfrm>
          <a:prstGeom prst="roundRect">
            <a:avLst>
              <a:gd name="adj" fmla="val 12296"/>
            </a:avLst>
          </a:prstGeom>
          <a:solidFill>
            <a:srgbClr val="EAEE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06252" y="4384179"/>
            <a:ext cx="759144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A495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教訓：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A495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把場景做到「反應式必死」，工程上會先撞到牆碰／packing 天花板；而且 policy 寧可接受較低 SR 也不改變風格（reward 經濟學）。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3A495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診斷了病理，但沒能翻案 channel 的使用。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11101" cy="5143500"/>
          </a:xfrm>
          <a:prstGeom prst="rect">
            <a:avLst/>
          </a:prstGeom>
          <a:solidFill>
            <a:srgbClr val="2E8B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5400000">
            <a:off x="-127099" y="2433638"/>
            <a:ext cx="9846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統一結論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41202" y="253901"/>
            <a:ext cx="7928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E8B5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四條路線一張表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41202" y="492026"/>
            <a:ext cx="79281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220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三個獨立方向，同一個根本原因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1202" y="1006376"/>
            <a:ext cx="7772698" cy="3491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041202" y="1011138"/>
            <a:ext cx="7772698" cy="0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09137" y="1006376"/>
            <a:ext cx="0" cy="349151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5964" y="1006376"/>
            <a:ext cx="0" cy="349151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5432" y="1015901"/>
            <a:ext cx="0" cy="339626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90327" y="1092101"/>
            <a:ext cx="1438957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28630" y="1015901"/>
            <a:ext cx="0" cy="339626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9796" y="1092101"/>
            <a:ext cx="2238360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2993" y="1092101"/>
            <a:ext cx="3357616" cy="187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決定性結果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1202" y="1355527"/>
            <a:ext cx="7772698" cy="5191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1041202" y="1360289"/>
            <a:ext cx="7772698" cy="0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9137" y="1355527"/>
            <a:ext cx="0" cy="519113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5964" y="1355527"/>
            <a:ext cx="0" cy="519113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5432" y="1365052"/>
            <a:ext cx="0" cy="509588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0327" y="1441252"/>
            <a:ext cx="143895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 表徵化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28630" y="1365052"/>
            <a:ext cx="0" cy="509588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9796" y="1441252"/>
            <a:ext cx="223836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RNN 自學隱式 MOT（velocity aux）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72993" y="1441252"/>
            <a:ext cx="33576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位置學得到、</a:t>
            </a:r>
            <a:pPr algn="l" indent="0" marL="0">
              <a:lnSpc>
                <a:spcPts val="1407"/>
              </a:lnSpc>
              <a:buNone/>
            </a:pPr>
            <a:r>
              <a:rPr lang="en-US" sz="105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速度學不到</a:t>
            </a:r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（R²≈0）；且是輸入層問題 —— 單幀 LiDAR 連 oracle 都推不出速度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41202" y="1874639"/>
            <a:ext cx="7772698" cy="5191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1041202" y="1879402"/>
            <a:ext cx="7772698" cy="0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09137" y="1874639"/>
            <a:ext cx="0" cy="519113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45964" y="1874639"/>
            <a:ext cx="0" cy="519113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5432" y="1884164"/>
            <a:ext cx="0" cy="509587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90327" y="1960364"/>
            <a:ext cx="143895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顯式 channel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28630" y="1884164"/>
            <a:ext cx="0" cy="509587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9796" y="1960364"/>
            <a:ext cx="223836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tracker [x,y,vx,vy,r] 直接餵 obs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72993" y="1960364"/>
            <a:ext cx="33576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三路 det eval：速度歸零、整條歸零 SR </a:t>
            </a:r>
            <a:pPr algn="l" indent="0" marL="0">
              <a:lnSpc>
                <a:spcPts val="1407"/>
              </a:lnSpc>
              <a:buNone/>
            </a:pPr>
            <a:r>
              <a:rPr lang="en-US" sz="105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全在噪音內</a:t>
            </a:r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channel 可省。梯度歸因翻案（H3：有讀但冗餘）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1202" y="2393752"/>
            <a:ext cx="7772698" cy="5191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1041202" y="2398514"/>
            <a:ext cx="7772698" cy="0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09137" y="2393752"/>
            <a:ext cx="0" cy="519113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5964" y="2393752"/>
            <a:ext cx="0" cy="519113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5432" y="2403277"/>
            <a:ext cx="0" cy="509587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90327" y="2479477"/>
            <a:ext cx="143895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Reward shaping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228630" y="2403277"/>
            <a:ext cx="0" cy="509587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9796" y="2479477"/>
            <a:ext cx="223836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swept-arc / teardrop / TTC 稅逼用速度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372993" y="2479477"/>
            <a:ext cx="33576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全部</a:t>
            </a:r>
            <a:pPr algn="l" indent="0" marL="0">
              <a:lnSpc>
                <a:spcPts val="1407"/>
              </a:lnSpc>
              <a:buNone/>
            </a:pPr>
            <a:r>
              <a:rPr lang="en-US" sz="105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動不了 d_safe 分佈</a:t>
            </a:r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避障風格由 reward 經濟學決定（論文級結論）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41202" y="2912864"/>
            <a:ext cx="7772698" cy="5191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041202" y="2917627"/>
            <a:ext cx="7772698" cy="0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9137" y="2912864"/>
            <a:ext cx="0" cy="519113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5964" y="2912864"/>
            <a:ext cx="0" cy="519113"/>
          </a:xfrm>
          <a:prstGeom prst="line">
            <a:avLst/>
          </a:prstGeom>
          <a:noFill/>
          <a:ln w="9525">
            <a:solidFill>
              <a:srgbClr val="D3DA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745432" y="2922389"/>
            <a:ext cx="0" cy="509587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90327" y="2998589"/>
            <a:ext cx="1438957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b="1" dirty="0">
                <a:solidFill>
                  <a:srgbClr val="1B2A3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必死場景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228630" y="2922389"/>
            <a:ext cx="0" cy="509587"/>
          </a:xfrm>
          <a:prstGeom prst="line">
            <a:avLst/>
          </a:prstGeom>
          <a:noFill/>
          <a:ln w="9525">
            <a:solidFill>
              <a:srgbClr val="E4E9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9796" y="2998589"/>
            <a:ext cx="223836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12×12/20 高密度、near-wall crossing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372993" y="2998589"/>
            <a:ext cx="33576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7"/>
              </a:lnSpc>
              <a:buNone/>
            </a:pPr>
            <a:r>
              <a:rPr lang="en-US" sz="1050" dirty="0">
                <a:solidFill>
                  <a:srgbClr val="44515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先撞到牆碰／packing 天花板；重現了 herding 病理但</a:t>
            </a:r>
            <a:pPr algn="l" indent="0" marL="0">
              <a:lnSpc>
                <a:spcPts val="1407"/>
              </a:lnSpc>
              <a:buNone/>
            </a:pPr>
            <a:r>
              <a:rPr lang="en-US" sz="1050" b="1" dirty="0">
                <a:solidFill>
                  <a:srgbClr val="C0483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沒逼出速度依賴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41202" y="3546277"/>
            <a:ext cx="7772698" cy="1060252"/>
          </a:xfrm>
          <a:prstGeom prst="roundRect">
            <a:avLst>
              <a:gd name="adj" fmla="val 9583"/>
            </a:avLst>
          </a:prstGeom>
          <a:solidFill>
            <a:srgbClr val="1E4D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257002" y="3685877"/>
            <a:ext cx="74879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FE0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為什麼四路都碰壁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257002" y="3990677"/>
            <a:ext cx="748791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任務用不到速度就能過關</a:t>
            </a:r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0F0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（reward 沒把速度變成必要）+ </a:t>
            </a:r>
            <a:pPr algn="l" indent="0" marL="0">
              <a:lnSpc>
                <a:spcPts val="1875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資訊流把 encoder 從 RL 切開</a:t>
            </a:r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E0F0E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（P1）。不是某個 bug、某個超參，是設計層的結構性問題。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04800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5FB6C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收斂點 · 下一步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06301" y="552450"/>
            <a:ext cx="84980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從「壓症狀」轉向「治結構」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1155650"/>
            <a:ext cx="41195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5FB6C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訓練設計審計：4 個結構性根本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06301" y="1454051"/>
            <a:ext cx="4038749" cy="573881"/>
          </a:xfrm>
          <a:prstGeom prst="roundRect">
            <a:avLst>
              <a:gd name="adj" fmla="val 13278"/>
            </a:avLst>
          </a:prstGeom>
          <a:solidFill>
            <a:srgbClr val="22323F"/>
          </a:solidFill>
          <a:ln w="9525">
            <a:solidFill>
              <a:srgbClr val="33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5427" y="1565077"/>
            <a:ext cx="337393" cy="231577"/>
          </a:xfrm>
          <a:prstGeom prst="roundRect">
            <a:avLst>
              <a:gd name="adj" fmla="val 21937"/>
            </a:avLst>
          </a:prstGeom>
          <a:solidFill>
            <a:srgbClr val="C048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4277" y="1590377"/>
            <a:ext cx="1628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7120" y="1565077"/>
            <a:ext cx="3354580" cy="35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RNN/extractor 收不到 RL 梯度</a:t>
            </a:r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6D2D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（no_grad 快取）→ 記憶靠會塌的 aux 撐。最關鍵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6301" y="2104132"/>
            <a:ext cx="4038749" cy="453628"/>
          </a:xfrm>
          <a:prstGeom prst="roundRect">
            <a:avLst>
              <a:gd name="adj" fmla="val 16798"/>
            </a:avLst>
          </a:prstGeom>
          <a:solidFill>
            <a:srgbClr val="22323F"/>
          </a:solidFill>
          <a:ln w="9525">
            <a:solidFill>
              <a:srgbClr val="33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5427" y="2215158"/>
            <a:ext cx="337393" cy="231577"/>
          </a:xfrm>
          <a:prstGeom prst="roundRect">
            <a:avLst>
              <a:gd name="adj" fmla="val 21937"/>
            </a:avLst>
          </a:prstGeom>
          <a:solidFill>
            <a:srgbClr val="C048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277" y="2240459"/>
            <a:ext cx="1628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7120" y="2215158"/>
            <a:ext cx="3075411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6D2D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reward 純稀疏，goal +40 壓倒避障，接觸前零梯度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06301" y="2633960"/>
            <a:ext cx="4038749" cy="453628"/>
          </a:xfrm>
          <a:prstGeom prst="roundRect">
            <a:avLst>
              <a:gd name="adj" fmla="val 16798"/>
            </a:avLst>
          </a:prstGeom>
          <a:solidFill>
            <a:srgbClr val="22323F"/>
          </a:solidFill>
          <a:ln w="9525">
            <a:solidFill>
              <a:srgbClr val="33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55427" y="2744986"/>
            <a:ext cx="337393" cy="231577"/>
          </a:xfrm>
          <a:prstGeom prst="roundRect">
            <a:avLst>
              <a:gd name="adj" fmla="val 21937"/>
            </a:avLst>
          </a:prstGeom>
          <a:solidFill>
            <a:srgbClr val="C048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4277" y="2770287"/>
            <a:ext cx="1628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7120" y="2744986"/>
            <a:ext cx="2574911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6D2D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優化無 trust region（KL early-stop 死碼）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6301" y="3163788"/>
            <a:ext cx="4038749" cy="453628"/>
          </a:xfrm>
          <a:prstGeom prst="roundRect">
            <a:avLst>
              <a:gd name="adj" fmla="val 16798"/>
            </a:avLst>
          </a:prstGeom>
          <a:solidFill>
            <a:srgbClr val="22323F"/>
          </a:solidFill>
          <a:ln w="9525">
            <a:solidFill>
              <a:srgbClr val="33475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5427" y="3274814"/>
            <a:ext cx="337393" cy="231577"/>
          </a:xfrm>
          <a:prstGeom prst="roundRect">
            <a:avLst>
              <a:gd name="adj" fmla="val 21937"/>
            </a:avLst>
          </a:prstGeom>
          <a:solidFill>
            <a:srgbClr val="C048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4277" y="3300115"/>
            <a:ext cx="1628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7120" y="3274814"/>
            <a:ext cx="1882378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dirty="0">
                <a:solidFill>
                  <a:srgbClr val="C6D2D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aux target runtime 退化成常數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98950" y="1155650"/>
            <a:ext cx="411952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5FB6C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e2e clean-PPO 重設計（走論文簡單設計）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698950" y="1454051"/>
            <a:ext cx="4038749" cy="2313980"/>
          </a:xfrm>
          <a:prstGeom prst="roundRect">
            <a:avLst>
              <a:gd name="adj" fmla="val 3842"/>
            </a:avLst>
          </a:prstGeom>
          <a:solidFill>
            <a:srgbClr val="1E4D3E"/>
          </a:solidFill>
          <a:ln w="9525">
            <a:solidFill>
              <a:srgbClr val="3778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86176" y="1603177"/>
            <a:ext cx="37375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FE0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4-frame LiDAR CNN 端到端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86176" y="1907977"/>
            <a:ext cx="3664297" cy="1672828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34"/>
              </a:lnSpc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D3EAD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PPO minibatch </a:t>
            </a:r>
            <a:pPr algn="l" indent="0" marL="0">
              <a:lnSpc>
                <a:spcPts val="1534"/>
              </a:lnSpc>
              <a:spcAft>
                <a:spcPts val="30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重算 CNN feature</a:t>
            </a:r>
            <a:pPr algn="l" indent="0" marL="0">
              <a:lnSpc>
                <a:spcPts val="1534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3EAD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（不用 cache）→ 治 P1</a:t>
            </a:r>
            <a:endParaRPr lang="en-US" sz="1080" dirty="0"/>
          </a:p>
          <a:p>
            <a:pPr algn="l" marL="95250" indent="-95250">
              <a:lnSpc>
                <a:spcPts val="1534"/>
              </a:lnSpc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D3EAD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 reward：progress + goal10 &lt; 撞15 + timeout−5 → 治 P2</a:t>
            </a:r>
            <a:endParaRPr lang="en-US" sz="1080" dirty="0"/>
          </a:p>
          <a:p>
            <a:pPr algn="l" marL="95250" indent="-95250">
              <a:lnSpc>
                <a:spcPts val="1534"/>
              </a:lnSpc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D3EAD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標準 PPO：4ep / KL stop 0.015 / clip → 治 P3；移除 aux → 消 P4</a:t>
            </a:r>
            <a:endParaRPr lang="en-US" sz="1080" dirty="0"/>
          </a:p>
          <a:p>
            <a:pPr algn="l" marL="95250" indent="-95250">
              <a:lnSpc>
                <a:spcPts val="1534"/>
              </a:lnSpc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D3EAD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上線驗證：</a:t>
            </a:r>
            <a:pPr algn="l" indent="0" marL="0">
              <a:lnSpc>
                <a:spcPts val="1534"/>
              </a:lnSpc>
              <a:spcAft>
                <a:spcPts val="300"/>
              </a:spcAft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enc_g=1.847</a:t>
            </a:r>
            <a:pPr algn="l" indent="0" marL="0">
              <a:lnSpc>
                <a:spcPts val="1534"/>
              </a:lnSpc>
              <a:spcAft>
                <a:spcPts val="300"/>
              </a:spcAft>
              <a:buNone/>
            </a:pPr>
            <a:r>
              <a:rPr lang="en-US" sz="1080" dirty="0">
                <a:solidFill>
                  <a:srgbClr val="D3EAD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（RL 梯度進 CNN）、KL stop 活了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698950" y="3869531"/>
            <a:ext cx="4038749" cy="840581"/>
          </a:xfrm>
          <a:prstGeom prst="roundRect">
            <a:avLst>
              <a:gd name="adj" fmla="val 9065"/>
            </a:avLst>
          </a:prstGeom>
          <a:solidFill>
            <a:srgbClr val="243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727525" y="3869531"/>
            <a:ext cx="0" cy="840581"/>
          </a:xfrm>
          <a:prstGeom prst="line">
            <a:avLst/>
          </a:prstGeom>
          <a:noFill/>
          <a:ln w="57150">
            <a:solidFill>
              <a:srgbClr val="5FB6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3801" y="3996482"/>
            <a:ext cx="3698721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FDCE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避障能否從乾淨設計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自然浮現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FDCE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—— 反應曲線左移 + 動態撞↓，待後期 stage 驗收（4 幀 0.8s 夠不夠推動態速度是關鍵未知）。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301" y="4837063"/>
            <a:ext cx="849802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950" dirty="0">
                <a:solidFill>
                  <a:srgbClr val="7C8B9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※ 「別人怎麼讓 RL 用 MOT（SOTA 文獻對照：DRL-VO / SARL / DS-RNN / Missing-Velocity …）」另有完整一份報告。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讓 RL 使用 MOT 動態障礙運動資訊 — 實驗歷程</dc:title>
  <dc:subject>PptxGenJS Presentation</dc:subject>
  <dc:creator>RL Navigation Lab</dc:creator>
  <cp:lastModifiedBy>RL Navigation Lab</cp:lastModifiedBy>
  <cp:revision>1</cp:revision>
  <dcterms:created xsi:type="dcterms:W3CDTF">2026-07-16T12:45:55Z</dcterms:created>
  <dcterms:modified xsi:type="dcterms:W3CDTF">2026-07-16T12:45:55Z</dcterms:modified>
</cp:coreProperties>
</file>